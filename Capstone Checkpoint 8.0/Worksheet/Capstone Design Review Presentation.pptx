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60" r:id="rId5"/>
    <p:sldId id="264" r:id="rId6"/>
    <p:sldId id="261" r:id="rId7"/>
    <p:sldId id="262" r:id="rId8"/>
    <p:sldId id="265" r:id="rId9"/>
    <p:sldId id="266" r:id="rId10"/>
    <p:sldId id="263"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4" roundtripDataSignature="AMtx7mjxgbYjccChfboh+PxKghejRKdf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1F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277F1-729D-4533-9937-95B36D51CB5B}" v="2" dt="2026-08-06T07:05:58.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7603" autoAdjust="0"/>
  </p:normalViewPr>
  <p:slideViewPr>
    <p:cSldViewPr snapToGrid="0">
      <p:cViewPr varScale="1">
        <p:scale>
          <a:sx n="99" d="100"/>
          <a:sy n="99" d="100"/>
        </p:scale>
        <p:origin x="996"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6" d="100"/>
          <a:sy n="86" d="100"/>
        </p:scale>
        <p:origin x="3864"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zza Maira" userId="d0a25a6f-4008-4c86-8740-27856525f3e1" providerId="ADAL" clId="{A44FACB3-3A32-418A-B1D8-F602B668736A}"/>
    <pc:docChg chg="undo custSel addSld modSld">
      <pc:chgData name="Fizza Maira" userId="d0a25a6f-4008-4c86-8740-27856525f3e1" providerId="ADAL" clId="{A44FACB3-3A32-418A-B1D8-F602B668736A}" dt="2026-08-06T07:13:10.115" v="595" actId="1076"/>
      <pc:docMkLst>
        <pc:docMk/>
      </pc:docMkLst>
      <pc:sldChg chg="modSp mod">
        <pc:chgData name="Fizza Maira" userId="d0a25a6f-4008-4c86-8740-27856525f3e1" providerId="ADAL" clId="{A44FACB3-3A32-418A-B1D8-F602B668736A}" dt="2026-08-06T06:56:31.796" v="66" actId="207"/>
        <pc:sldMkLst>
          <pc:docMk/>
          <pc:sldMk cId="0" sldId="256"/>
        </pc:sldMkLst>
        <pc:spChg chg="mod">
          <ac:chgData name="Fizza Maira" userId="d0a25a6f-4008-4c86-8740-27856525f3e1" providerId="ADAL" clId="{A44FACB3-3A32-418A-B1D8-F602B668736A}" dt="2026-08-06T06:56:31.796" v="66" actId="207"/>
          <ac:spMkLst>
            <pc:docMk/>
            <pc:sldMk cId="0" sldId="256"/>
            <ac:spMk id="94" creationId="{00000000-0000-0000-0000-000000000000}"/>
          </ac:spMkLst>
        </pc:spChg>
      </pc:sldChg>
      <pc:sldChg chg="addSp delSp modSp mod">
        <pc:chgData name="Fizza Maira" userId="d0a25a6f-4008-4c86-8740-27856525f3e1" providerId="ADAL" clId="{A44FACB3-3A32-418A-B1D8-F602B668736A}" dt="2026-08-06T06:59:42.372" v="125" actId="1036"/>
        <pc:sldMkLst>
          <pc:docMk/>
          <pc:sldMk cId="0" sldId="257"/>
        </pc:sldMkLst>
        <pc:spChg chg="add mod">
          <ac:chgData name="Fizza Maira" userId="d0a25a6f-4008-4c86-8740-27856525f3e1" providerId="ADAL" clId="{A44FACB3-3A32-418A-B1D8-F602B668736A}" dt="2026-08-06T06:56:48.518" v="69" actId="122"/>
          <ac:spMkLst>
            <pc:docMk/>
            <pc:sldMk cId="0" sldId="257"/>
            <ac:spMk id="3" creationId="{6E5FE501-52FC-9663-175F-EE814939F785}"/>
          </ac:spMkLst>
        </pc:spChg>
        <pc:spChg chg="add mod">
          <ac:chgData name="Fizza Maira" userId="d0a25a6f-4008-4c86-8740-27856525f3e1" providerId="ADAL" clId="{A44FACB3-3A32-418A-B1D8-F602B668736A}" dt="2026-08-06T06:59:42.372" v="125" actId="1036"/>
          <ac:spMkLst>
            <pc:docMk/>
            <pc:sldMk cId="0" sldId="257"/>
            <ac:spMk id="5" creationId="{F18859DA-4EBF-86FB-39DA-CC40AEFAA531}"/>
          </ac:spMkLst>
        </pc:spChg>
        <pc:spChg chg="add del mod">
          <ac:chgData name="Fizza Maira" userId="d0a25a6f-4008-4c86-8740-27856525f3e1" providerId="ADAL" clId="{A44FACB3-3A32-418A-B1D8-F602B668736A}" dt="2026-08-06T06:56:56.706" v="71" actId="478"/>
          <ac:spMkLst>
            <pc:docMk/>
            <pc:sldMk cId="0" sldId="257"/>
            <ac:spMk id="7" creationId="{47ACB267-F7CA-D45F-F1B9-E208296EE326}"/>
          </ac:spMkLst>
        </pc:spChg>
        <pc:spChg chg="add del mod">
          <ac:chgData name="Fizza Maira" userId="d0a25a6f-4008-4c86-8740-27856525f3e1" providerId="ADAL" clId="{A44FACB3-3A32-418A-B1D8-F602B668736A}" dt="2026-08-06T06:56:52.400" v="70" actId="478"/>
          <ac:spMkLst>
            <pc:docMk/>
            <pc:sldMk cId="0" sldId="257"/>
            <ac:spMk id="9" creationId="{8C2CC35A-C1C4-C9E7-86A2-232A1BAC361B}"/>
          </ac:spMkLst>
        </pc:spChg>
      </pc:sldChg>
      <pc:sldChg chg="addSp delSp modSp mod">
        <pc:chgData name="Fizza Maira" userId="d0a25a6f-4008-4c86-8740-27856525f3e1" providerId="ADAL" clId="{A44FACB3-3A32-418A-B1D8-F602B668736A}" dt="2026-08-06T07:07:56.465" v="389" actId="1035"/>
        <pc:sldMkLst>
          <pc:docMk/>
          <pc:sldMk cId="0" sldId="258"/>
        </pc:sldMkLst>
        <pc:spChg chg="add mod">
          <ac:chgData name="Fizza Maira" userId="d0a25a6f-4008-4c86-8740-27856525f3e1" providerId="ADAL" clId="{A44FACB3-3A32-418A-B1D8-F602B668736A}" dt="2026-08-06T07:07:56.465" v="389" actId="1035"/>
          <ac:spMkLst>
            <pc:docMk/>
            <pc:sldMk cId="0" sldId="258"/>
            <ac:spMk id="3" creationId="{9809ED82-7865-1E75-8005-E3EE187972A9}"/>
          </ac:spMkLst>
        </pc:spChg>
        <pc:spChg chg="add del">
          <ac:chgData name="Fizza Maira" userId="d0a25a6f-4008-4c86-8740-27856525f3e1" providerId="ADAL" clId="{A44FACB3-3A32-418A-B1D8-F602B668736A}" dt="2026-08-06T06:57:33.761" v="75" actId="22"/>
          <ac:spMkLst>
            <pc:docMk/>
            <pc:sldMk cId="0" sldId="258"/>
            <ac:spMk id="5" creationId="{8F03CF5C-94F2-6975-E3F3-1B4B69AD5D5D}"/>
          </ac:spMkLst>
        </pc:spChg>
        <pc:spChg chg="add del mod">
          <ac:chgData name="Fizza Maira" userId="d0a25a6f-4008-4c86-8740-27856525f3e1" providerId="ADAL" clId="{A44FACB3-3A32-418A-B1D8-F602B668736A}" dt="2026-08-06T06:58:06.206" v="84" actId="21"/>
          <ac:spMkLst>
            <pc:docMk/>
            <pc:sldMk cId="0" sldId="258"/>
            <ac:spMk id="7" creationId="{22D905D9-AAC5-3957-E29C-1F3E78727844}"/>
          </ac:spMkLst>
        </pc:spChg>
        <pc:spChg chg="add mod">
          <ac:chgData name="Fizza Maira" userId="d0a25a6f-4008-4c86-8740-27856525f3e1" providerId="ADAL" clId="{A44FACB3-3A32-418A-B1D8-F602B668736A}" dt="2026-08-06T07:07:18.056" v="299" actId="12788"/>
          <ac:spMkLst>
            <pc:docMk/>
            <pc:sldMk cId="0" sldId="258"/>
            <ac:spMk id="9" creationId="{73F3F64E-BE4D-D3DF-57D5-BF67AE1E9EDD}"/>
          </ac:spMkLst>
        </pc:spChg>
      </pc:sldChg>
      <pc:sldChg chg="addSp modSp new mod">
        <pc:chgData name="Fizza Maira" userId="d0a25a6f-4008-4c86-8740-27856525f3e1" providerId="ADAL" clId="{A44FACB3-3A32-418A-B1D8-F602B668736A}" dt="2026-08-06T07:08:22.098" v="420" actId="1035"/>
        <pc:sldMkLst>
          <pc:docMk/>
          <pc:sldMk cId="3289224814" sldId="259"/>
        </pc:sldMkLst>
        <pc:spChg chg="add mod">
          <ac:chgData name="Fizza Maira" userId="d0a25a6f-4008-4c86-8740-27856525f3e1" providerId="ADAL" clId="{A44FACB3-3A32-418A-B1D8-F602B668736A}" dt="2026-08-06T07:08:22.098" v="420" actId="1035"/>
          <ac:spMkLst>
            <pc:docMk/>
            <pc:sldMk cId="3289224814" sldId="259"/>
            <ac:spMk id="3" creationId="{31AE4673-2310-7768-CAFE-C71E228846A7}"/>
          </ac:spMkLst>
        </pc:spChg>
        <pc:spChg chg="add mod">
          <ac:chgData name="Fizza Maira" userId="d0a25a6f-4008-4c86-8740-27856525f3e1" providerId="ADAL" clId="{A44FACB3-3A32-418A-B1D8-F602B668736A}" dt="2026-08-06T07:07:48.107" v="348" actId="20577"/>
          <ac:spMkLst>
            <pc:docMk/>
            <pc:sldMk cId="3289224814" sldId="259"/>
            <ac:spMk id="5" creationId="{98CF4003-6B2E-87CF-2817-76889C6135B4}"/>
          </ac:spMkLst>
        </pc:spChg>
      </pc:sldChg>
      <pc:sldChg chg="addSp modSp new mod">
        <pc:chgData name="Fizza Maira" userId="d0a25a6f-4008-4c86-8740-27856525f3e1" providerId="ADAL" clId="{A44FACB3-3A32-418A-B1D8-F602B668736A}" dt="2026-08-06T07:10:21.214" v="482"/>
        <pc:sldMkLst>
          <pc:docMk/>
          <pc:sldMk cId="3987153470" sldId="260"/>
        </pc:sldMkLst>
        <pc:spChg chg="add mod">
          <ac:chgData name="Fizza Maira" userId="d0a25a6f-4008-4c86-8740-27856525f3e1" providerId="ADAL" clId="{A44FACB3-3A32-418A-B1D8-F602B668736A}" dt="2026-08-06T07:09:54.338" v="481" actId="1076"/>
          <ac:spMkLst>
            <pc:docMk/>
            <pc:sldMk cId="3987153470" sldId="260"/>
            <ac:spMk id="3" creationId="{FBE09B85-CBAA-6E41-F9C1-5D0C62D32631}"/>
          </ac:spMkLst>
        </pc:spChg>
        <pc:spChg chg="add mod">
          <ac:chgData name="Fizza Maira" userId="d0a25a6f-4008-4c86-8740-27856525f3e1" providerId="ADAL" clId="{A44FACB3-3A32-418A-B1D8-F602B668736A}" dt="2026-08-06T07:10:21.214" v="482"/>
          <ac:spMkLst>
            <pc:docMk/>
            <pc:sldMk cId="3987153470" sldId="260"/>
            <ac:spMk id="5" creationId="{E2D08B99-26E8-96E3-B453-DEED97ED3C1F}"/>
          </ac:spMkLst>
        </pc:spChg>
      </pc:sldChg>
      <pc:sldChg chg="addSp modSp new mod">
        <pc:chgData name="Fizza Maira" userId="d0a25a6f-4008-4c86-8740-27856525f3e1" providerId="ADAL" clId="{A44FACB3-3A32-418A-B1D8-F602B668736A}" dt="2026-08-06T07:11:25.705" v="519" actId="1076"/>
        <pc:sldMkLst>
          <pc:docMk/>
          <pc:sldMk cId="684907484" sldId="261"/>
        </pc:sldMkLst>
        <pc:spChg chg="add mod">
          <ac:chgData name="Fizza Maira" userId="d0a25a6f-4008-4c86-8740-27856525f3e1" providerId="ADAL" clId="{A44FACB3-3A32-418A-B1D8-F602B668736A}" dt="2026-08-06T07:11:25.705" v="519" actId="1076"/>
          <ac:spMkLst>
            <pc:docMk/>
            <pc:sldMk cId="684907484" sldId="261"/>
            <ac:spMk id="3" creationId="{F6631922-EDA2-CA93-9A0A-C814D5C410DE}"/>
          </ac:spMkLst>
        </pc:spChg>
        <pc:spChg chg="add mod">
          <ac:chgData name="Fizza Maira" userId="d0a25a6f-4008-4c86-8740-27856525f3e1" providerId="ADAL" clId="{A44FACB3-3A32-418A-B1D8-F602B668736A}" dt="2026-08-06T07:10:54.305" v="515"/>
          <ac:spMkLst>
            <pc:docMk/>
            <pc:sldMk cId="684907484" sldId="261"/>
            <ac:spMk id="5" creationId="{BC92D5CD-CEED-CAF9-8E1C-650675A313C3}"/>
          </ac:spMkLst>
        </pc:spChg>
      </pc:sldChg>
      <pc:sldChg chg="addSp modSp new mod">
        <pc:chgData name="Fizza Maira" userId="d0a25a6f-4008-4c86-8740-27856525f3e1" providerId="ADAL" clId="{A44FACB3-3A32-418A-B1D8-F602B668736A}" dt="2026-08-06T07:12:09.100" v="557" actId="1076"/>
        <pc:sldMkLst>
          <pc:docMk/>
          <pc:sldMk cId="2040043498" sldId="262"/>
        </pc:sldMkLst>
        <pc:spChg chg="add mod">
          <ac:chgData name="Fizza Maira" userId="d0a25a6f-4008-4c86-8740-27856525f3e1" providerId="ADAL" clId="{A44FACB3-3A32-418A-B1D8-F602B668736A}" dt="2026-08-06T07:12:09.100" v="557" actId="1076"/>
          <ac:spMkLst>
            <pc:docMk/>
            <pc:sldMk cId="2040043498" sldId="262"/>
            <ac:spMk id="3" creationId="{158013A2-70CA-8E35-F3F3-F40CD428166B}"/>
          </ac:spMkLst>
        </pc:spChg>
        <pc:spChg chg="add mod">
          <ac:chgData name="Fizza Maira" userId="d0a25a6f-4008-4c86-8740-27856525f3e1" providerId="ADAL" clId="{A44FACB3-3A32-418A-B1D8-F602B668736A}" dt="2026-08-06T07:11:53.354" v="555"/>
          <ac:spMkLst>
            <pc:docMk/>
            <pc:sldMk cId="2040043498" sldId="262"/>
            <ac:spMk id="5" creationId="{688822D8-D529-2998-D46B-41BB9F87B091}"/>
          </ac:spMkLst>
        </pc:spChg>
      </pc:sldChg>
      <pc:sldChg chg="addSp modSp new mod">
        <pc:chgData name="Fizza Maira" userId="d0a25a6f-4008-4c86-8740-27856525f3e1" providerId="ADAL" clId="{A44FACB3-3A32-418A-B1D8-F602B668736A}" dt="2026-08-06T07:13:10.115" v="595" actId="1076"/>
        <pc:sldMkLst>
          <pc:docMk/>
          <pc:sldMk cId="3937486198" sldId="263"/>
        </pc:sldMkLst>
        <pc:spChg chg="add mod">
          <ac:chgData name="Fizza Maira" userId="d0a25a6f-4008-4c86-8740-27856525f3e1" providerId="ADAL" clId="{A44FACB3-3A32-418A-B1D8-F602B668736A}" dt="2026-08-06T07:13:10.115" v="595" actId="1076"/>
          <ac:spMkLst>
            <pc:docMk/>
            <pc:sldMk cId="3937486198" sldId="263"/>
            <ac:spMk id="3" creationId="{460254CD-0903-966C-40EF-C5EBA490158C}"/>
          </ac:spMkLst>
        </pc:spChg>
        <pc:spChg chg="add mod">
          <ac:chgData name="Fizza Maira" userId="d0a25a6f-4008-4c86-8740-27856525f3e1" providerId="ADAL" clId="{A44FACB3-3A32-418A-B1D8-F602B668736A}" dt="2026-08-06T07:12:49.659" v="592"/>
          <ac:spMkLst>
            <pc:docMk/>
            <pc:sldMk cId="3937486198" sldId="263"/>
            <ac:spMk id="5" creationId="{7FE4D497-87C5-39D6-FAF0-4FE272E0EB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Domain- this is a question-and-answer assistant strictly scoped to locally stored Wikipedia text files</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Retrieval system is based on 1. Text based retrieval, BM25. 2. vector DB which is stored in Chroma db. and 3. semantic of question and answers are also caches for faster retrieval and cost optimization. 4. queries are decomposed in multiple smaller queries and each query passes through retrieval system separately.</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From security point of view, there are 2 important guardrails implemented- 1. Fake </a:t>
            </a:r>
            <a:r>
              <a:rPr lang="en-US" dirty="0" err="1"/>
              <a:t>wikifile</a:t>
            </a:r>
            <a:r>
              <a:rPr lang="en-US" dirty="0"/>
              <a:t> injection detection 2. persona filtering or role-playing</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To implement this system- </a:t>
            </a:r>
            <a:r>
              <a:rPr lang="en-US" dirty="0" err="1"/>
              <a:t>StateGraph</a:t>
            </a:r>
            <a:r>
              <a:rPr lang="en-US" dirty="0"/>
              <a:t> from </a:t>
            </a:r>
            <a:r>
              <a:rPr lang="en-US" dirty="0" err="1"/>
              <a:t>LangGraph</a:t>
            </a:r>
            <a:r>
              <a:rPr lang="en-US" dirty="0"/>
              <a:t> is used along with many other classes and libraries.</a:t>
            </a:r>
            <a:endParaRPr dirty="0"/>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What problem this system addresses is- LLM may hallucinate or generate the false fact or just speculate if query is domain specific  and answer is expected within the scope of organizations’ documents.</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As far the users of this system are concern- it is open to anyone within the organization who is seeking the fact-based answers and expects accuracy while seeking the answers based on company specific domain are right users for this RAG system. History is also maintained in a session for contextual reference.</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For any organization Trust, compliance and reliability are the keys for any retrieval system. Businesses cannot trust a system if its source is unknown, it speculates… </a:t>
            </a:r>
          </a:p>
          <a:p>
            <a:pPr marL="0" lvl="0" indent="0" algn="l" rtl="0">
              <a:lnSpc>
                <a:spcPct val="100000"/>
              </a:lnSpc>
              <a:spcBef>
                <a:spcPts val="0"/>
              </a:spcBef>
              <a:spcAft>
                <a:spcPts val="0"/>
              </a:spcAft>
              <a:buSzPts val="1400"/>
              <a:buNone/>
            </a:pPr>
            <a:r>
              <a:rPr lang="en-US" dirty="0"/>
              <a:t>when System is not secure enough, there is possibility that facts are doctored via prompt injections…</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Caching and query splitting implemented in this system improves response time significantly</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This RAG system addresses all such problems, will see in coming slides….</a:t>
            </a:r>
            <a:endParaRPr dirty="0"/>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retrieval strategy- Hybrid fusion is used where keyword-based search which is BM25 is fused with semantic based search which is Chroma vector embeddings at equal ratio. </a:t>
            </a:r>
          </a:p>
          <a:p>
            <a:endParaRPr lang="en-US" dirty="0"/>
          </a:p>
          <a:p>
            <a:r>
              <a:rPr lang="en-US" dirty="0"/>
              <a:t>There are multiple Wikipedia text files on a related topic kept in source folder, topics are mentioned in file name. </a:t>
            </a:r>
          </a:p>
          <a:p>
            <a:r>
              <a:rPr lang="en-US" dirty="0"/>
              <a:t>Graph has multiple nodes like- Plan, retriever, by date, by topic, clarify and answer… plan is the entry point</a:t>
            </a:r>
          </a:p>
          <a:p>
            <a:endParaRPr lang="en-US" dirty="0"/>
          </a:p>
          <a:p>
            <a:r>
              <a:rPr lang="en-US" dirty="0"/>
              <a:t>While traversing through graph by topic, max70 files on a topic are selected to control the limits and I guess 70 is a optimal number in this scope</a:t>
            </a:r>
          </a:p>
          <a:p>
            <a:endParaRPr lang="en-US" dirty="0"/>
          </a:p>
          <a:p>
            <a:r>
              <a:rPr lang="en-US" dirty="0"/>
              <a:t>For creating a graph, </a:t>
            </a:r>
            <a:r>
              <a:rPr lang="en-US" dirty="0" err="1"/>
              <a:t>Networkx</a:t>
            </a:r>
            <a:r>
              <a:rPr lang="en-US" dirty="0"/>
              <a:t> library is used</a:t>
            </a:r>
          </a:p>
          <a:p>
            <a:endParaRPr lang="en-US" dirty="0"/>
          </a:p>
          <a:p>
            <a:r>
              <a:rPr lang="en-US" dirty="0"/>
              <a:t>---</a:t>
            </a:r>
          </a:p>
          <a:p>
            <a:r>
              <a:rPr lang="en-US" dirty="0"/>
              <a:t>System by design also supports its evaluation. If user selects the mode at the start for evaluation, a predefined test file with questions and their grounded notes are provided in JSON format. The retrieved response is judged by the LLM and marked as Pass or fail in generated output. Each query is retrieved using 4 technique - bm25, vector, hybrid and graph strategy…. We will see the evidence later</a:t>
            </a:r>
          </a:p>
          <a:p>
            <a:r>
              <a:rPr lang="en-US" dirty="0"/>
              <a:t>---</a:t>
            </a:r>
          </a:p>
          <a:p>
            <a:r>
              <a:rPr lang="en-US" dirty="0"/>
              <a:t>As an observed fact, Hybrid &amp; graph retrievers' performance better, but in a particular case it is also observed that when Hybrid retriever fails the vector search returns the correct answer. It is because hybrid retriever is diluting because of its K-limit</a:t>
            </a:r>
          </a:p>
          <a:p>
            <a:r>
              <a:rPr lang="en-US" dirty="0"/>
              <a:t>System retrieves 100% answers within the source provided</a:t>
            </a:r>
          </a:p>
          <a:p>
            <a:r>
              <a:rPr lang="en-US" dirty="0"/>
              <a:t>---</a:t>
            </a:r>
          </a:p>
          <a:p>
            <a:r>
              <a:rPr lang="en-US" dirty="0"/>
              <a:t>Caches improves the response time and optimizes the cost. That is the strength of the system. </a:t>
            </a:r>
          </a:p>
          <a:p>
            <a:r>
              <a:rPr lang="en-US" dirty="0"/>
              <a:t>When system is running in batch mode for evaluation- there is no option to provide the clarification which I see as limitation as of now</a:t>
            </a:r>
          </a:p>
          <a:p>
            <a:r>
              <a:rPr lang="en-US" dirty="0"/>
              <a:t>In a graph technique- the plan node is the starting point and decision making sometimes may increase the usage of the API token</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50749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just a visual presentation of last slide,</a:t>
            </a:r>
          </a:p>
          <a:p>
            <a:r>
              <a:rPr lang="en-US" dirty="0"/>
              <a:t>For evaluation- a </a:t>
            </a:r>
            <a:r>
              <a:rPr lang="en-US" dirty="0" err="1"/>
              <a:t>testInput.json</a:t>
            </a:r>
            <a:r>
              <a:rPr lang="en-US" dirty="0"/>
              <a:t> is used as discussed in last slide. The query passes through for all 4 techniques and retrieves the answer which is evaluated by same or higher version of LLM as judge. But in my version of code Judge is also same LLM. Judge LLM mark the answer as Pass or fail which is later written on file. RAGAS library is used as facilitator</a:t>
            </a:r>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5</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48307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1 using lang graph stateful agent over static single pass retrieval- single pass retrieval is faster and multiple part planning increases token consumption also but multipart ensures the completeness of answer retrieved.</a:t>
            </a:r>
          </a:p>
          <a:p>
            <a:r>
              <a:rPr lang="en-US" dirty="0"/>
              <a:t>Static pipeline fails when query requires multi step reasoning or user’s clarification. </a:t>
            </a:r>
            <a:r>
              <a:rPr lang="en-US" dirty="0" err="1"/>
              <a:t>LangChain</a:t>
            </a:r>
            <a:r>
              <a:rPr lang="en-US" dirty="0"/>
              <a:t> provides the query decomposition and multi turn conversation memory</a:t>
            </a:r>
          </a:p>
          <a:p>
            <a:r>
              <a:rPr lang="en-US" dirty="0"/>
              <a:t>---</a:t>
            </a:r>
          </a:p>
          <a:p>
            <a:r>
              <a:rPr lang="en-US" dirty="0"/>
              <a:t>Decision 2 Guardrails are in place to provide pre-retrieval defense against fake-file injection from prompt- and role-playing attacks. It is blocked even before reaching to LLM planner. Although Persona filter uses a lightweight LLM</a:t>
            </a:r>
          </a:p>
          <a:p>
            <a:endParaRPr lang="en-US" dirty="0"/>
          </a:p>
          <a:p>
            <a:r>
              <a:rPr lang="en-US" dirty="0"/>
              <a:t>---</a:t>
            </a:r>
          </a:p>
          <a:p>
            <a:r>
              <a:rPr lang="en-US" dirty="0"/>
              <a:t>Decision 3 XML Trust Hierarchy- XML enforces strict boundaries among System Message, Retrieved Wikipedia files and, User Questions. Light weight model is used for direct look up and caching. Still API cost is higher because of expensive models while answer’s quality is still same</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35766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 </a:t>
            </a:r>
          </a:p>
          <a:p>
            <a:r>
              <a:rPr lang="en-US" dirty="0"/>
              <a:t>it cannot collect user’s input for clarification in Batch mode</a:t>
            </a:r>
          </a:p>
          <a:p>
            <a:r>
              <a:rPr lang="en-US" dirty="0"/>
              <a:t>Retrieve by date or by topic relies on file name rather some more reliable source like file’s metadata</a:t>
            </a:r>
          </a:p>
          <a:p>
            <a:endParaRPr lang="en-US" dirty="0"/>
          </a:p>
          <a:p>
            <a:r>
              <a:rPr lang="en-US" dirty="0"/>
              <a:t>Risk:</a:t>
            </a:r>
          </a:p>
          <a:p>
            <a:r>
              <a:rPr lang="en-US" dirty="0"/>
              <a:t>Header stripping regex can strip the legitimate user text also</a:t>
            </a:r>
          </a:p>
          <a:p>
            <a:r>
              <a:rPr lang="en-US" dirty="0"/>
              <a:t>At the startup, building Chroma vector DB creates delay</a:t>
            </a:r>
          </a:p>
          <a:p>
            <a:endParaRPr lang="en-US" dirty="0"/>
          </a:p>
          <a:p>
            <a:r>
              <a:rPr lang="en-US" dirty="0"/>
              <a:t>Enhancement:</a:t>
            </a:r>
          </a:p>
          <a:p>
            <a:r>
              <a:rPr lang="en-US" dirty="0"/>
              <a:t>May embed </a:t>
            </a:r>
            <a:r>
              <a:rPr lang="en-US" dirty="0" err="1"/>
              <a:t>Networkx</a:t>
            </a:r>
            <a:r>
              <a:rPr lang="en-US" dirty="0"/>
              <a:t> graph traversal directly as an agent tool node inside the </a:t>
            </a:r>
            <a:r>
              <a:rPr lang="en-US" dirty="0" err="1"/>
              <a:t>StateGraph</a:t>
            </a:r>
            <a:endParaRPr lang="en-US" dirty="0"/>
          </a:p>
          <a:p>
            <a:r>
              <a:rPr lang="en-US" dirty="0"/>
              <a:t>Implement auto resolve ambiguity in user’s query in Clarify Node</a:t>
            </a:r>
          </a:p>
          <a:p>
            <a:r>
              <a:rPr lang="en-US" dirty="0"/>
              <a:t>Implement a web-based user interface, so that users from the organization can easily access this RAG system and Admin can control to run the Evaluation part, it is not required for end users.</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541752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15"/>
        <p:cNvGrpSpPr/>
        <p:nvPr/>
      </p:nvGrpSpPr>
      <p:grpSpPr>
        <a:xfrm>
          <a:off x="0" y="0"/>
          <a:ext cx="0" cy="0"/>
          <a:chOff x="0" y="0"/>
          <a:chExt cx="0" cy="0"/>
        </a:xfrm>
      </p:grpSpPr>
      <p:pic>
        <p:nvPicPr>
          <p:cNvPr id="16" name="Google Shape;16;p5"/>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7" name="Google Shape;17;p5"/>
          <p:cNvPicPr preferRelativeResize="0"/>
          <p:nvPr/>
        </p:nvPicPr>
        <p:blipFill rotWithShape="1">
          <a:blip r:embed="rId3">
            <a:alphaModFix/>
          </a:blip>
          <a:srcRect/>
          <a:stretch/>
        </p:blipFill>
        <p:spPr>
          <a:xfrm>
            <a:off x="0" y="4419600"/>
            <a:ext cx="12192000" cy="2438400"/>
          </a:xfrm>
          <a:prstGeom prst="rect">
            <a:avLst/>
          </a:prstGeom>
          <a:noFill/>
          <a:ln>
            <a:noFill/>
          </a:ln>
        </p:spPr>
      </p:pic>
      <p:pic>
        <p:nvPicPr>
          <p:cNvPr id="18" name="Google Shape;18;p5"/>
          <p:cNvPicPr preferRelativeResize="0"/>
          <p:nvPr/>
        </p:nvPicPr>
        <p:blipFill rotWithShape="1">
          <a:blip r:embed="rId4">
            <a:alphaModFix/>
          </a:blip>
          <a:srcRect/>
          <a:stretch/>
        </p:blipFill>
        <p:spPr>
          <a:xfrm>
            <a:off x="9830830" y="3686830"/>
            <a:ext cx="1905000" cy="52230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5_Blank">
  <p:cSld name="5_Blank">
    <p:spTree>
      <p:nvGrpSpPr>
        <p:cNvPr id="1" name="Shape 19"/>
        <p:cNvGrpSpPr/>
        <p:nvPr/>
      </p:nvGrpSpPr>
      <p:grpSpPr>
        <a:xfrm>
          <a:off x="0" y="0"/>
          <a:ext cx="0" cy="0"/>
          <a:chOff x="0" y="0"/>
          <a:chExt cx="0" cy="0"/>
        </a:xfrm>
      </p:grpSpPr>
      <p:pic>
        <p:nvPicPr>
          <p:cNvPr id="20" name="Google Shape;20;p6"/>
          <p:cNvPicPr preferRelativeResize="0"/>
          <p:nvPr/>
        </p:nvPicPr>
        <p:blipFill rotWithShape="1">
          <a:blip r:embed="rId2">
            <a:alphaModFix/>
          </a:blip>
          <a:srcRect/>
          <a:stretch/>
        </p:blipFill>
        <p:spPr>
          <a:xfrm>
            <a:off x="10797369" y="6362197"/>
            <a:ext cx="960461" cy="372478"/>
          </a:xfrm>
          <a:prstGeom prst="rect">
            <a:avLst/>
          </a:prstGeom>
          <a:noFill/>
          <a:ln>
            <a:noFill/>
          </a:ln>
        </p:spPr>
      </p:pic>
      <p:pic>
        <p:nvPicPr>
          <p:cNvPr id="21" name="Google Shape;21;p6"/>
          <p:cNvPicPr preferRelativeResize="0"/>
          <p:nvPr/>
        </p:nvPicPr>
        <p:blipFill rotWithShape="1">
          <a:blip r:embed="rId3">
            <a:alphaModFix/>
          </a:blip>
          <a:srcRect/>
          <a:stretch/>
        </p:blipFill>
        <p:spPr>
          <a:xfrm>
            <a:off x="0" y="0"/>
            <a:ext cx="12192000" cy="7143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156">
          <p15:clr>
            <a:srgbClr val="FBAE40"/>
          </p15:clr>
        </p15:guide>
        <p15:guide id="2" pos="751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_Blank">
  <p:cSld name="7_Blank">
    <p:spTree>
      <p:nvGrpSpPr>
        <p:cNvPr id="1" name="Shape 22"/>
        <p:cNvGrpSpPr/>
        <p:nvPr/>
      </p:nvGrpSpPr>
      <p:grpSpPr>
        <a:xfrm>
          <a:off x="0" y="0"/>
          <a:ext cx="0" cy="0"/>
          <a:chOff x="0" y="0"/>
          <a:chExt cx="0" cy="0"/>
        </a:xfrm>
      </p:grpSpPr>
      <p:pic>
        <p:nvPicPr>
          <p:cNvPr id="23" name="Google Shape;23;p7"/>
          <p:cNvPicPr preferRelativeResize="0"/>
          <p:nvPr/>
        </p:nvPicPr>
        <p:blipFill rotWithShape="1">
          <a:blip r:embed="rId2">
            <a:alphaModFix amt="5000"/>
          </a:blip>
          <a:srcRect/>
          <a:stretch/>
        </p:blipFill>
        <p:spPr>
          <a:xfrm>
            <a:off x="3976469" y="2607021"/>
            <a:ext cx="4239062" cy="164395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156">
          <p15:clr>
            <a:srgbClr val="FBAE40"/>
          </p15:clr>
        </p15:guide>
        <p15:guide id="2" pos="751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1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3"/>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7" name="Google Shape;67;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6"/>
          <p:cNvSpPr>
            <a:spLocks noGrp="1"/>
          </p:cNvSpPr>
          <p:nvPr>
            <p:ph type="pic" idx="2"/>
          </p:nvPr>
        </p:nvSpPr>
        <p:spPr>
          <a:xfrm>
            <a:off x="5183188" y="987425"/>
            <a:ext cx="6172200" cy="4873625"/>
          </a:xfrm>
          <a:prstGeom prst="rect">
            <a:avLst/>
          </a:prstGeom>
          <a:noFill/>
          <a:ln>
            <a:noFill/>
          </a:ln>
        </p:spPr>
      </p:sp>
      <p:sp>
        <p:nvSpPr>
          <p:cNvPr id="74" name="Google Shape;74;p1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youtu.be/6zxbiw4zetw" TargetMode="External"/><Relationship Id="rId2" Type="http://schemas.openxmlformats.org/officeDocument/2006/relationships/hyperlink" Target="https://github.com/merasupermarket/RAG-WITH-MIT-XPRO"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93"/>
        <p:cNvGrpSpPr/>
        <p:nvPr/>
      </p:nvGrpSpPr>
      <p:grpSpPr>
        <a:xfrm>
          <a:off x="0" y="0"/>
          <a:ext cx="0" cy="0"/>
          <a:chOff x="0" y="0"/>
          <a:chExt cx="0" cy="0"/>
        </a:xfrm>
      </p:grpSpPr>
      <p:sp>
        <p:nvSpPr>
          <p:cNvPr id="94" name="Google Shape;94;p1"/>
          <p:cNvSpPr txBox="1"/>
          <p:nvPr/>
        </p:nvSpPr>
        <p:spPr>
          <a:xfrm>
            <a:off x="261257" y="5321712"/>
            <a:ext cx="10896599" cy="523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IN" sz="2800" b="1" i="0" u="none" strike="noStrike" cap="none" dirty="0">
                <a:solidFill>
                  <a:schemeClr val="bg1"/>
                </a:solidFill>
                <a:latin typeface="Calibri"/>
                <a:ea typeface="Calibri"/>
                <a:cs typeface="Calibri"/>
                <a:sym typeface="Calibri"/>
              </a:rPr>
              <a:t>Capstone</a:t>
            </a:r>
            <a:r>
              <a:rPr lang="en-IN" sz="2800" b="1" i="0" u="none" strike="noStrike" cap="none" dirty="0">
                <a:solidFill>
                  <a:schemeClr val="lt1"/>
                </a:solidFill>
                <a:latin typeface="Calibri"/>
                <a:ea typeface="Calibri"/>
                <a:cs typeface="Calibri"/>
                <a:sym typeface="Calibri"/>
              </a:rPr>
              <a:t> Design Review Presentation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22" name="Rounded Rectangle 3">
            <a:extLst>
              <a:ext uri="{FF2B5EF4-FFF2-40B4-BE49-F238E27FC236}">
                <a16:creationId xmlns:a16="http://schemas.microsoft.com/office/drawing/2014/main" id="{C4EBF33E-5DDD-E3CB-176B-D7C6DB305D26}"/>
              </a:ext>
            </a:extLst>
          </p:cNvPr>
          <p:cNvSpPr/>
          <p:nvPr/>
        </p:nvSpPr>
        <p:spPr>
          <a:xfrm>
            <a:off x="914400" y="1097280"/>
            <a:ext cx="10362895" cy="475488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Google Shape;99;p2"/>
          <p:cNvSpPr txBox="1"/>
          <p:nvPr/>
        </p:nvSpPr>
        <p:spPr>
          <a:xfrm>
            <a:off x="291078" y="1298425"/>
            <a:ext cx="116097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IN" sz="2800" b="0" i="0" u="none" strike="noStrike" cap="none">
                <a:solidFill>
                  <a:schemeClr val="lt1"/>
                </a:solidFill>
                <a:latin typeface="Calibri"/>
                <a:ea typeface="Calibri"/>
                <a:cs typeface="Calibri"/>
                <a:sym typeface="Calibri"/>
              </a:rPr>
              <a:t>Add slide title</a:t>
            </a:r>
            <a:endParaRPr sz="1400" b="0" i="0" u="none" strike="noStrike" cap="none">
              <a:solidFill>
                <a:srgbClr val="000000"/>
              </a:solidFill>
              <a:latin typeface="Arial"/>
              <a:ea typeface="Arial"/>
              <a:cs typeface="Arial"/>
              <a:sym typeface="Arial"/>
            </a:endParaRPr>
          </a:p>
        </p:txBody>
      </p:sp>
      <p:sp>
        <p:nvSpPr>
          <p:cNvPr id="24" name="TextBox 23">
            <a:extLst>
              <a:ext uri="{FF2B5EF4-FFF2-40B4-BE49-F238E27FC236}">
                <a16:creationId xmlns:a16="http://schemas.microsoft.com/office/drawing/2014/main" id="{CEFF7B81-DB73-E90E-8958-FABA7B4DECCB}"/>
              </a:ext>
            </a:extLst>
          </p:cNvPr>
          <p:cNvSpPr txBox="1"/>
          <p:nvPr/>
        </p:nvSpPr>
        <p:spPr>
          <a:xfrm>
            <a:off x="1280160" y="1463040"/>
            <a:ext cx="9601200" cy="1828800"/>
          </a:xfrm>
          <a:prstGeom prst="rect">
            <a:avLst/>
          </a:prstGeom>
          <a:noFill/>
        </p:spPr>
        <p:txBody>
          <a:bodyPr wrap="square">
            <a:spAutoFit/>
          </a:bodyPr>
          <a:lstStyle/>
          <a:p>
            <a:pPr>
              <a:defRPr sz="3200" b="1">
                <a:solidFill>
                  <a:srgbClr val="232B38"/>
                </a:solidFill>
                <a:latin typeface="Georgia"/>
              </a:defRPr>
            </a:pPr>
            <a:r>
              <a:rPr dirty="0"/>
              <a:t>Designing and Evaluating a Retrieval-Augmented LLM System</a:t>
            </a:r>
          </a:p>
          <a:p>
            <a:pPr>
              <a:spcBef>
                <a:spcPts val="1000"/>
              </a:spcBef>
              <a:defRPr sz="2000" b="1">
                <a:solidFill>
                  <a:srgbClr val="A31F34"/>
                </a:solidFill>
                <a:latin typeface="Arial"/>
              </a:defRPr>
            </a:pPr>
            <a:r>
              <a:rPr dirty="0"/>
              <a:t>Capstone Design Review Presentation</a:t>
            </a:r>
          </a:p>
        </p:txBody>
      </p:sp>
      <p:sp>
        <p:nvSpPr>
          <p:cNvPr id="26" name="Rectangle 25">
            <a:extLst>
              <a:ext uri="{FF2B5EF4-FFF2-40B4-BE49-F238E27FC236}">
                <a16:creationId xmlns:a16="http://schemas.microsoft.com/office/drawing/2014/main" id="{95F99B2C-82A2-54D9-7776-7720938995DE}"/>
              </a:ext>
            </a:extLst>
          </p:cNvPr>
          <p:cNvSpPr/>
          <p:nvPr/>
        </p:nvSpPr>
        <p:spPr>
          <a:xfrm>
            <a:off x="1280160" y="3474720"/>
            <a:ext cx="9601200" cy="36576"/>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5136D723-35A2-C087-7497-7B2F69867A69}"/>
              </a:ext>
            </a:extLst>
          </p:cNvPr>
          <p:cNvSpPr txBox="1"/>
          <p:nvPr/>
        </p:nvSpPr>
        <p:spPr>
          <a:xfrm>
            <a:off x="1280160" y="3657600"/>
            <a:ext cx="9601200" cy="1920240"/>
          </a:xfrm>
          <a:prstGeom prst="rect">
            <a:avLst/>
          </a:prstGeom>
          <a:noFill/>
        </p:spPr>
        <p:txBody>
          <a:bodyPr wrap="square">
            <a:spAutoFit/>
          </a:bodyPr>
          <a:lstStyle/>
          <a:p>
            <a:pPr>
              <a:spcAft>
                <a:spcPts val="600"/>
              </a:spcAft>
            </a:pPr>
            <a:r>
              <a:rPr sz="1300" b="1" dirty="0">
                <a:solidFill>
                  <a:srgbClr val="232B38"/>
                </a:solidFill>
                <a:latin typeface="Arial"/>
              </a:rPr>
              <a:t>•  Domain &amp; Corpus:</a:t>
            </a:r>
            <a:r>
              <a:rPr sz="1300" dirty="0">
                <a:solidFill>
                  <a:srgbClr val="2D3436"/>
                </a:solidFill>
                <a:latin typeface="Arial"/>
              </a:rPr>
              <a:t> Enterprise Q&amp;A Assistant bounded strictly to local '</a:t>
            </a:r>
            <a:r>
              <a:rPr sz="1300" dirty="0" err="1">
                <a:solidFill>
                  <a:srgbClr val="2D3436"/>
                </a:solidFill>
                <a:latin typeface="Arial"/>
              </a:rPr>
              <a:t>WikiFiles</a:t>
            </a:r>
            <a:r>
              <a:rPr sz="1300" dirty="0">
                <a:solidFill>
                  <a:srgbClr val="2D3436"/>
                </a:solidFill>
                <a:latin typeface="Arial"/>
              </a:rPr>
              <a:t>' Wikipedia text corpus.</a:t>
            </a:r>
          </a:p>
          <a:p>
            <a:pPr>
              <a:spcAft>
                <a:spcPts val="600"/>
              </a:spcAft>
            </a:pPr>
            <a:r>
              <a:rPr sz="1300" b="1" dirty="0">
                <a:solidFill>
                  <a:srgbClr val="232B38"/>
                </a:solidFill>
                <a:latin typeface="Arial"/>
              </a:rPr>
              <a:t>•  Core Capabilities:</a:t>
            </a:r>
            <a:r>
              <a:rPr sz="1300" dirty="0">
                <a:solidFill>
                  <a:srgbClr val="2D3436"/>
                </a:solidFill>
                <a:latin typeface="Arial"/>
              </a:rPr>
              <a:t> Hybrid retrieval (BM25 + Chroma Vector DB), semantic Q&amp;A caching, multi-query decomposition, and multi-turn state tracking.</a:t>
            </a:r>
          </a:p>
          <a:p>
            <a:pPr>
              <a:spcAft>
                <a:spcPts val="600"/>
              </a:spcAft>
            </a:pPr>
            <a:r>
              <a:rPr sz="1300" b="1" dirty="0">
                <a:solidFill>
                  <a:srgbClr val="232B38"/>
                </a:solidFill>
                <a:latin typeface="Arial"/>
              </a:rPr>
              <a:t>•  Security Infrastructure:</a:t>
            </a:r>
            <a:r>
              <a:rPr sz="1300" dirty="0">
                <a:solidFill>
                  <a:srgbClr val="2D3436"/>
                </a:solidFill>
                <a:latin typeface="Arial"/>
              </a:rPr>
              <a:t> Pre-retrieval fake-</a:t>
            </a:r>
            <a:r>
              <a:rPr sz="1300" dirty="0" err="1">
                <a:solidFill>
                  <a:srgbClr val="2D3436"/>
                </a:solidFill>
                <a:latin typeface="Arial"/>
              </a:rPr>
              <a:t>WikiFile</a:t>
            </a:r>
            <a:r>
              <a:rPr sz="1300" dirty="0">
                <a:solidFill>
                  <a:srgbClr val="2D3436"/>
                </a:solidFill>
                <a:latin typeface="Arial"/>
              </a:rPr>
              <a:t> injection detection and fail-closed persona filtering.</a:t>
            </a:r>
          </a:p>
          <a:p>
            <a:pPr>
              <a:spcAft>
                <a:spcPts val="600"/>
              </a:spcAft>
            </a:pPr>
            <a:r>
              <a:rPr sz="1300" b="1" dirty="0">
                <a:solidFill>
                  <a:srgbClr val="232B38"/>
                </a:solidFill>
                <a:latin typeface="Arial"/>
              </a:rPr>
              <a:t>•  Framework &amp; Orchestration:</a:t>
            </a:r>
            <a:r>
              <a:rPr sz="1300" dirty="0">
                <a:solidFill>
                  <a:srgbClr val="2D3436"/>
                </a:solidFill>
                <a:latin typeface="Arial"/>
              </a:rPr>
              <a:t> </a:t>
            </a:r>
            <a:r>
              <a:rPr sz="1300" dirty="0" err="1">
                <a:solidFill>
                  <a:srgbClr val="2D3436"/>
                </a:solidFill>
                <a:latin typeface="Arial"/>
              </a:rPr>
              <a:t>LangGraph</a:t>
            </a:r>
            <a:r>
              <a:rPr sz="1300" dirty="0">
                <a:solidFill>
                  <a:srgbClr val="2D3436"/>
                </a:solidFill>
                <a:latin typeface="Arial"/>
              </a:rPr>
              <a:t> </a:t>
            </a:r>
            <a:r>
              <a:rPr sz="1300" dirty="0" err="1">
                <a:solidFill>
                  <a:srgbClr val="2D3436"/>
                </a:solidFill>
                <a:latin typeface="Arial"/>
              </a:rPr>
              <a:t>StateGraph</a:t>
            </a:r>
            <a:r>
              <a:rPr sz="1300" dirty="0">
                <a:solidFill>
                  <a:srgbClr val="2D3436"/>
                </a:solidFill>
                <a:latin typeface="Arial"/>
              </a:rPr>
              <a:t> agent with role-based model routing (OpenAI GPT-5.4).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3" name="Rounded Rectangle 10">
            <a:extLst>
              <a:ext uri="{FF2B5EF4-FFF2-40B4-BE49-F238E27FC236}">
                <a16:creationId xmlns:a16="http://schemas.microsoft.com/office/drawing/2014/main" id="{8E27DC70-0ED9-E20B-AED4-579DD1784F72}"/>
              </a:ext>
            </a:extLst>
          </p:cNvPr>
          <p:cNvSpPr/>
          <p:nvPr/>
        </p:nvSpPr>
        <p:spPr>
          <a:xfrm>
            <a:off x="4425696" y="1371600"/>
            <a:ext cx="3328416" cy="484632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73F3F64E-BE4D-D3DF-57D5-BF67AE1E9EDD}"/>
              </a:ext>
            </a:extLst>
          </p:cNvPr>
          <p:cNvSpPr txBox="1"/>
          <p:nvPr/>
        </p:nvSpPr>
        <p:spPr>
          <a:xfrm>
            <a:off x="3048000" y="608112"/>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The Problem</a:t>
            </a:r>
          </a:p>
        </p:txBody>
      </p:sp>
      <p:sp>
        <p:nvSpPr>
          <p:cNvPr id="4" name="Rounded Rectangle 6">
            <a:extLst>
              <a:ext uri="{FF2B5EF4-FFF2-40B4-BE49-F238E27FC236}">
                <a16:creationId xmlns:a16="http://schemas.microsoft.com/office/drawing/2014/main" id="{F690D299-ECB4-3DFA-C70B-D01FF54B2551}"/>
              </a:ext>
            </a:extLst>
          </p:cNvPr>
          <p:cNvSpPr/>
          <p:nvPr/>
        </p:nvSpPr>
        <p:spPr>
          <a:xfrm>
            <a:off x="731520" y="1371600"/>
            <a:ext cx="3328416" cy="484632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5C7DA6C0-5DD3-ACCF-C8AE-7181970FAE94}"/>
              </a:ext>
            </a:extLst>
          </p:cNvPr>
          <p:cNvSpPr/>
          <p:nvPr/>
        </p:nvSpPr>
        <p:spPr>
          <a:xfrm>
            <a:off x="731520" y="1371600"/>
            <a:ext cx="3328416" cy="73152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A2DE3AF-ECE2-A83A-9CCD-B04D2F1D5BF8}"/>
              </a:ext>
            </a:extLst>
          </p:cNvPr>
          <p:cNvSpPr txBox="1"/>
          <p:nvPr/>
        </p:nvSpPr>
        <p:spPr>
          <a:xfrm>
            <a:off x="868680" y="1463040"/>
            <a:ext cx="3054096" cy="548640"/>
          </a:xfrm>
          <a:prstGeom prst="rect">
            <a:avLst/>
          </a:prstGeom>
          <a:noFill/>
        </p:spPr>
        <p:txBody>
          <a:bodyPr wrap="square">
            <a:spAutoFit/>
          </a:bodyPr>
          <a:lstStyle/>
          <a:p>
            <a:pPr>
              <a:defRPr sz="1500" b="1">
                <a:solidFill>
                  <a:srgbClr val="FFFFFF"/>
                </a:solidFill>
                <a:latin typeface="Georgia"/>
              </a:defRPr>
            </a:pPr>
            <a:r>
              <a:rPr dirty="0"/>
              <a:t>What Problem Does It Solve?</a:t>
            </a:r>
          </a:p>
        </p:txBody>
      </p:sp>
      <p:sp>
        <p:nvSpPr>
          <p:cNvPr id="11" name="TextBox 10">
            <a:extLst>
              <a:ext uri="{FF2B5EF4-FFF2-40B4-BE49-F238E27FC236}">
                <a16:creationId xmlns:a16="http://schemas.microsoft.com/office/drawing/2014/main" id="{84D9577F-B23F-8581-682E-FC21267D91F1}"/>
              </a:ext>
            </a:extLst>
          </p:cNvPr>
          <p:cNvSpPr txBox="1"/>
          <p:nvPr/>
        </p:nvSpPr>
        <p:spPr>
          <a:xfrm>
            <a:off x="914400" y="2240280"/>
            <a:ext cx="2962656" cy="3840480"/>
          </a:xfrm>
          <a:prstGeom prst="rect">
            <a:avLst/>
          </a:prstGeom>
          <a:noFill/>
        </p:spPr>
        <p:txBody>
          <a:bodyPr wrap="square">
            <a:spAutoFit/>
          </a:bodyPr>
          <a:lstStyle/>
          <a:p>
            <a:pPr>
              <a:spcAft>
                <a:spcPts val="1000"/>
              </a:spcAft>
              <a:defRPr sz="1400" b="1">
                <a:solidFill>
                  <a:srgbClr val="A31F34"/>
                </a:solidFill>
                <a:latin typeface="Arial"/>
              </a:defRPr>
            </a:pPr>
            <a:r>
              <a:t>Unbounded LLM Speculation &amp; Attacks</a:t>
            </a:r>
          </a:p>
          <a:p>
            <a:pPr>
              <a:spcAft>
                <a:spcPts val="800"/>
              </a:spcAft>
              <a:defRPr sz="1200">
                <a:solidFill>
                  <a:srgbClr val="2D3436"/>
                </a:solidFill>
                <a:latin typeface="Arial"/>
              </a:defRPr>
            </a:pPr>
            <a:r>
              <a:t>•  General-purpose LLMs hallucinate unverified facts and speculate beyond official enterprise documentation.</a:t>
            </a:r>
          </a:p>
          <a:p>
            <a:pPr>
              <a:spcAft>
                <a:spcPts val="800"/>
              </a:spcAft>
              <a:defRPr sz="1200">
                <a:solidFill>
                  <a:srgbClr val="2D3436"/>
                </a:solidFill>
                <a:latin typeface="Arial"/>
              </a:defRPr>
            </a:pPr>
            <a:r>
              <a:t>•  Standard RAG pipelines succumb to adversarial context poisoning (e.g. fake WikiFile blocks) and persona hijacking.</a:t>
            </a:r>
          </a:p>
          <a:p>
            <a:pPr>
              <a:spcAft>
                <a:spcPts val="800"/>
              </a:spcAft>
              <a:defRPr sz="1200">
                <a:solidFill>
                  <a:srgbClr val="2D3436"/>
                </a:solidFill>
                <a:latin typeface="Arial"/>
              </a:defRPr>
            </a:pPr>
            <a:r>
              <a:t>•  Complex/lengthy questions fail in single-pass search without structured query decomposition.</a:t>
            </a:r>
          </a:p>
        </p:txBody>
      </p:sp>
      <p:sp>
        <p:nvSpPr>
          <p:cNvPr id="15" name="Rectangle 14">
            <a:extLst>
              <a:ext uri="{FF2B5EF4-FFF2-40B4-BE49-F238E27FC236}">
                <a16:creationId xmlns:a16="http://schemas.microsoft.com/office/drawing/2014/main" id="{8512458C-D7BA-3344-16F8-1693C3126C14}"/>
              </a:ext>
            </a:extLst>
          </p:cNvPr>
          <p:cNvSpPr/>
          <p:nvPr/>
        </p:nvSpPr>
        <p:spPr>
          <a:xfrm>
            <a:off x="4425696" y="1371600"/>
            <a:ext cx="3328416" cy="731520"/>
          </a:xfrm>
          <a:prstGeom prst="rect">
            <a:avLst/>
          </a:prstGeom>
          <a:solidFill>
            <a:srgbClr val="23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57218E2E-7812-8AB4-5A4E-4D2DA154DAAF}"/>
              </a:ext>
            </a:extLst>
          </p:cNvPr>
          <p:cNvSpPr txBox="1"/>
          <p:nvPr/>
        </p:nvSpPr>
        <p:spPr>
          <a:xfrm>
            <a:off x="4562856" y="1463040"/>
            <a:ext cx="3054096" cy="548640"/>
          </a:xfrm>
          <a:prstGeom prst="rect">
            <a:avLst/>
          </a:prstGeom>
          <a:noFill/>
        </p:spPr>
        <p:txBody>
          <a:bodyPr wrap="square">
            <a:spAutoFit/>
          </a:bodyPr>
          <a:lstStyle/>
          <a:p>
            <a:pPr>
              <a:defRPr sz="1500" b="1">
                <a:solidFill>
                  <a:srgbClr val="FFFFFF"/>
                </a:solidFill>
                <a:latin typeface="Georgia"/>
              </a:defRPr>
            </a:pPr>
            <a:r>
              <a:t>Who is the Intended User?</a:t>
            </a:r>
          </a:p>
        </p:txBody>
      </p:sp>
      <p:sp>
        <p:nvSpPr>
          <p:cNvPr id="19" name="TextBox 18">
            <a:extLst>
              <a:ext uri="{FF2B5EF4-FFF2-40B4-BE49-F238E27FC236}">
                <a16:creationId xmlns:a16="http://schemas.microsoft.com/office/drawing/2014/main" id="{1052CB04-A4DB-2065-9855-08957A4232F6}"/>
              </a:ext>
            </a:extLst>
          </p:cNvPr>
          <p:cNvSpPr txBox="1"/>
          <p:nvPr/>
        </p:nvSpPr>
        <p:spPr>
          <a:xfrm>
            <a:off x="4608576" y="2240280"/>
            <a:ext cx="2962656" cy="3840480"/>
          </a:xfrm>
          <a:prstGeom prst="rect">
            <a:avLst/>
          </a:prstGeom>
          <a:noFill/>
        </p:spPr>
        <p:txBody>
          <a:bodyPr wrap="square">
            <a:spAutoFit/>
          </a:bodyPr>
          <a:lstStyle/>
          <a:p>
            <a:pPr>
              <a:spcAft>
                <a:spcPts val="1000"/>
              </a:spcAft>
              <a:defRPr sz="1400" b="1">
                <a:solidFill>
                  <a:srgbClr val="232B38"/>
                </a:solidFill>
                <a:latin typeface="Arial"/>
              </a:defRPr>
            </a:pPr>
            <a:r>
              <a:rPr dirty="0"/>
              <a:t>Enterprise Knowledge Workers</a:t>
            </a:r>
          </a:p>
          <a:p>
            <a:pPr>
              <a:spcAft>
                <a:spcPts val="800"/>
              </a:spcAft>
              <a:defRPr sz="1200">
                <a:solidFill>
                  <a:srgbClr val="2D3436"/>
                </a:solidFill>
                <a:latin typeface="Arial"/>
              </a:defRPr>
            </a:pPr>
            <a:r>
              <a:rPr dirty="0"/>
              <a:t>•  Enterprise researchers and technical auditors needing guaranteed factual accuracy.</a:t>
            </a:r>
          </a:p>
          <a:p>
            <a:pPr>
              <a:spcAft>
                <a:spcPts val="800"/>
              </a:spcAft>
              <a:defRPr sz="1200">
                <a:solidFill>
                  <a:srgbClr val="2D3436"/>
                </a:solidFill>
                <a:latin typeface="Arial"/>
              </a:defRPr>
            </a:pPr>
            <a:r>
              <a:rPr dirty="0"/>
              <a:t>•  Internal teams querying domain-specific local document repositories ('</a:t>
            </a:r>
            <a:r>
              <a:rPr dirty="0" err="1"/>
              <a:t>WikiFiles</a:t>
            </a:r>
            <a:r>
              <a:rPr dirty="0"/>
              <a:t>').</a:t>
            </a:r>
          </a:p>
          <a:p>
            <a:pPr>
              <a:spcAft>
                <a:spcPts val="800"/>
              </a:spcAft>
              <a:defRPr sz="1200">
                <a:solidFill>
                  <a:srgbClr val="2D3436"/>
                </a:solidFill>
                <a:latin typeface="Arial"/>
              </a:defRPr>
            </a:pPr>
            <a:r>
              <a:rPr dirty="0"/>
              <a:t>•  Users requiring interactive, multi-turn follow-up capabilities with context awareness.</a:t>
            </a:r>
          </a:p>
        </p:txBody>
      </p:sp>
      <p:sp>
        <p:nvSpPr>
          <p:cNvPr id="21" name="Rounded Rectangle 14">
            <a:extLst>
              <a:ext uri="{FF2B5EF4-FFF2-40B4-BE49-F238E27FC236}">
                <a16:creationId xmlns:a16="http://schemas.microsoft.com/office/drawing/2014/main" id="{37EB4717-48F2-0963-69AD-15B5ACD7D335}"/>
              </a:ext>
            </a:extLst>
          </p:cNvPr>
          <p:cNvSpPr/>
          <p:nvPr/>
        </p:nvSpPr>
        <p:spPr>
          <a:xfrm>
            <a:off x="8119872" y="1371600"/>
            <a:ext cx="3328416" cy="484632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D783783A-0F7A-AF98-D53B-FA1BC2132C19}"/>
              </a:ext>
            </a:extLst>
          </p:cNvPr>
          <p:cNvSpPr/>
          <p:nvPr/>
        </p:nvSpPr>
        <p:spPr>
          <a:xfrm>
            <a:off x="8119872" y="1371600"/>
            <a:ext cx="3328416" cy="73152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507C4F3E-9E9B-27B6-86A1-CC558586BA78}"/>
              </a:ext>
            </a:extLst>
          </p:cNvPr>
          <p:cNvSpPr txBox="1"/>
          <p:nvPr/>
        </p:nvSpPr>
        <p:spPr>
          <a:xfrm>
            <a:off x="8257032" y="1463040"/>
            <a:ext cx="3054096" cy="548640"/>
          </a:xfrm>
          <a:prstGeom prst="rect">
            <a:avLst/>
          </a:prstGeom>
          <a:noFill/>
        </p:spPr>
        <p:txBody>
          <a:bodyPr wrap="square">
            <a:spAutoFit/>
          </a:bodyPr>
          <a:lstStyle/>
          <a:p>
            <a:pPr>
              <a:defRPr sz="1500" b="1">
                <a:solidFill>
                  <a:srgbClr val="FFFFFF"/>
                </a:solidFill>
                <a:latin typeface="Georgia"/>
              </a:defRPr>
            </a:pPr>
            <a:r>
              <a:t>Why is this Problem Important?</a:t>
            </a:r>
          </a:p>
        </p:txBody>
      </p:sp>
      <p:sp>
        <p:nvSpPr>
          <p:cNvPr id="27" name="TextBox 26">
            <a:extLst>
              <a:ext uri="{FF2B5EF4-FFF2-40B4-BE49-F238E27FC236}">
                <a16:creationId xmlns:a16="http://schemas.microsoft.com/office/drawing/2014/main" id="{B095A955-FFF8-91B1-4C97-29CB1F8FF8DE}"/>
              </a:ext>
            </a:extLst>
          </p:cNvPr>
          <p:cNvSpPr txBox="1"/>
          <p:nvPr/>
        </p:nvSpPr>
        <p:spPr>
          <a:xfrm>
            <a:off x="8302752" y="2240280"/>
            <a:ext cx="2962656" cy="3840480"/>
          </a:xfrm>
          <a:prstGeom prst="rect">
            <a:avLst/>
          </a:prstGeom>
          <a:noFill/>
        </p:spPr>
        <p:txBody>
          <a:bodyPr wrap="square">
            <a:spAutoFit/>
          </a:bodyPr>
          <a:lstStyle/>
          <a:p>
            <a:pPr>
              <a:spcAft>
                <a:spcPts val="1000"/>
              </a:spcAft>
              <a:defRPr sz="1400" b="1">
                <a:solidFill>
                  <a:srgbClr val="A31F34"/>
                </a:solidFill>
                <a:latin typeface="Arial"/>
              </a:defRPr>
            </a:pPr>
            <a:r>
              <a:t>Trust, Compliance &amp; Reliability</a:t>
            </a:r>
          </a:p>
          <a:p>
            <a:pPr>
              <a:spcAft>
                <a:spcPts val="800"/>
              </a:spcAft>
              <a:defRPr sz="1200">
                <a:solidFill>
                  <a:srgbClr val="2D3436"/>
                </a:solidFill>
                <a:latin typeface="Arial"/>
              </a:defRPr>
            </a:pPr>
            <a:r>
              <a:t>•  Zero Tolerance for Speculation: Critical business queries require 100% source-grounded responses.</a:t>
            </a:r>
          </a:p>
          <a:p>
            <a:pPr>
              <a:spcAft>
                <a:spcPts val="800"/>
              </a:spcAft>
              <a:defRPr sz="1200">
                <a:solidFill>
                  <a:srgbClr val="2D3436"/>
                </a:solidFill>
                <a:latin typeface="Arial"/>
              </a:defRPr>
            </a:pPr>
            <a:r>
              <a:t>•  Security Compliance: Prompt injections can exfiltrate data or invert factual model outputs.</a:t>
            </a:r>
          </a:p>
          <a:p>
            <a:pPr>
              <a:spcAft>
                <a:spcPts val="800"/>
              </a:spcAft>
              <a:defRPr sz="1200">
                <a:solidFill>
                  <a:srgbClr val="2D3436"/>
                </a:solidFill>
                <a:latin typeface="Arial"/>
              </a:defRPr>
            </a:pPr>
            <a:r>
              <a:t>•  Operational Efficiency: Automated caching and query splitting drastically reduce response latency.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2D08B99-26E8-96E3-B453-DEED97ED3C1F}"/>
              </a:ext>
            </a:extLst>
          </p:cNvPr>
          <p:cNvSpPr txBox="1"/>
          <p:nvPr/>
        </p:nvSpPr>
        <p:spPr>
          <a:xfrm>
            <a:off x="3048000" y="608112"/>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Retrieval and Evaluation</a:t>
            </a:r>
          </a:p>
        </p:txBody>
      </p:sp>
      <p:sp>
        <p:nvSpPr>
          <p:cNvPr id="4" name="Rounded Rectangle 6">
            <a:extLst>
              <a:ext uri="{FF2B5EF4-FFF2-40B4-BE49-F238E27FC236}">
                <a16:creationId xmlns:a16="http://schemas.microsoft.com/office/drawing/2014/main" id="{D876CCA5-919E-C4CF-0B87-DBE9EBC793B2}"/>
              </a:ext>
            </a:extLst>
          </p:cNvPr>
          <p:cNvSpPr/>
          <p:nvPr/>
        </p:nvSpPr>
        <p:spPr>
          <a:xfrm>
            <a:off x="731520" y="1371600"/>
            <a:ext cx="5180990" cy="228600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E9605381-1D33-4FD9-88C3-EDCDEAA3E620}"/>
              </a:ext>
            </a:extLst>
          </p:cNvPr>
          <p:cNvSpPr/>
          <p:nvPr/>
        </p:nvSpPr>
        <p:spPr>
          <a:xfrm>
            <a:off x="731520" y="1371600"/>
            <a:ext cx="5180990" cy="457200"/>
          </a:xfrm>
          <a:prstGeom prst="rect">
            <a:avLst/>
          </a:prstGeom>
          <a:solidFill>
            <a:srgbClr val="23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92518FE0-3343-EE2D-63DC-57C725DC9F3F}"/>
              </a:ext>
            </a:extLst>
          </p:cNvPr>
          <p:cNvSpPr txBox="1"/>
          <p:nvPr/>
        </p:nvSpPr>
        <p:spPr>
          <a:xfrm>
            <a:off x="868680" y="1417320"/>
            <a:ext cx="4906670" cy="365760"/>
          </a:xfrm>
          <a:prstGeom prst="rect">
            <a:avLst/>
          </a:prstGeom>
          <a:noFill/>
        </p:spPr>
        <p:txBody>
          <a:bodyPr wrap="none">
            <a:spAutoFit/>
          </a:bodyPr>
          <a:lstStyle/>
          <a:p>
            <a:pPr>
              <a:defRPr sz="1400" b="1">
                <a:solidFill>
                  <a:srgbClr val="FFFFFF"/>
                </a:solidFill>
                <a:latin typeface="Georgia"/>
              </a:defRPr>
            </a:pPr>
            <a:r>
              <a:t>Retrieval Strategy &amp; Fusion</a:t>
            </a:r>
          </a:p>
        </p:txBody>
      </p:sp>
      <p:sp>
        <p:nvSpPr>
          <p:cNvPr id="11" name="TextBox 10">
            <a:extLst>
              <a:ext uri="{FF2B5EF4-FFF2-40B4-BE49-F238E27FC236}">
                <a16:creationId xmlns:a16="http://schemas.microsoft.com/office/drawing/2014/main" id="{DF284414-446F-F993-2025-63EF1450794A}"/>
              </a:ext>
            </a:extLst>
          </p:cNvPr>
          <p:cNvSpPr txBox="1"/>
          <p:nvPr/>
        </p:nvSpPr>
        <p:spPr>
          <a:xfrm>
            <a:off x="914400" y="1874520"/>
            <a:ext cx="4815230" cy="1737360"/>
          </a:xfrm>
          <a:prstGeom prst="rect">
            <a:avLst/>
          </a:prstGeom>
          <a:noFill/>
        </p:spPr>
        <p:txBody>
          <a:bodyPr wrap="square">
            <a:spAutoFit/>
          </a:bodyPr>
          <a:lstStyle/>
          <a:p>
            <a:pPr>
              <a:spcAft>
                <a:spcPts val="400"/>
              </a:spcAft>
              <a:defRPr sz="1100">
                <a:solidFill>
                  <a:srgbClr val="2D3436"/>
                </a:solidFill>
                <a:latin typeface="Arial"/>
              </a:defRPr>
            </a:pPr>
            <a:r>
              <a:rPr dirty="0"/>
              <a:t>•  Hybrid Fusion: Combines BM25 keyword search with Chroma vector embeddings (0.5/0.5 weight normalization).</a:t>
            </a:r>
          </a:p>
          <a:p>
            <a:pPr>
              <a:spcAft>
                <a:spcPts val="400"/>
              </a:spcAft>
              <a:defRPr sz="1100">
                <a:solidFill>
                  <a:srgbClr val="2D3436"/>
                </a:solidFill>
                <a:latin typeface="Arial"/>
              </a:defRPr>
            </a:pPr>
            <a:r>
              <a:rPr dirty="0"/>
              <a:t>•  Topic Retrieval (`</a:t>
            </a:r>
            <a:r>
              <a:rPr dirty="0" err="1"/>
              <a:t>by_topic</a:t>
            </a:r>
            <a:r>
              <a:rPr dirty="0"/>
              <a:t>`): Fetches up to 70 files directly matching specific topic keywords (e.g. 'Apollo 11').</a:t>
            </a:r>
          </a:p>
          <a:p>
            <a:pPr>
              <a:spcAft>
                <a:spcPts val="400"/>
              </a:spcAft>
              <a:defRPr sz="1100">
                <a:solidFill>
                  <a:srgbClr val="2D3436"/>
                </a:solidFill>
                <a:latin typeface="Arial"/>
              </a:defRPr>
            </a:pPr>
            <a:r>
              <a:rPr dirty="0"/>
              <a:t>•  Graph Augmentation: </a:t>
            </a:r>
            <a:r>
              <a:rPr dirty="0" err="1"/>
              <a:t>NetworkX</a:t>
            </a:r>
            <a:r>
              <a:rPr dirty="0"/>
              <a:t> graph traversal (`</a:t>
            </a:r>
            <a:r>
              <a:rPr dirty="0" err="1"/>
              <a:t>GraphRetriever</a:t>
            </a:r>
            <a:r>
              <a:rPr dirty="0"/>
              <a:t>`) walks `</a:t>
            </a:r>
            <a:r>
              <a:rPr dirty="0" err="1"/>
              <a:t>relates_to</a:t>
            </a:r>
            <a:r>
              <a:rPr dirty="0"/>
              <a:t>` topic edges and `</a:t>
            </a:r>
            <a:r>
              <a:rPr dirty="0" err="1"/>
              <a:t>belongs_to</a:t>
            </a:r>
            <a:r>
              <a:rPr dirty="0"/>
              <a:t>` thread edges.</a:t>
            </a:r>
          </a:p>
        </p:txBody>
      </p:sp>
      <p:sp>
        <p:nvSpPr>
          <p:cNvPr id="13" name="Rounded Rectangle 10">
            <a:extLst>
              <a:ext uri="{FF2B5EF4-FFF2-40B4-BE49-F238E27FC236}">
                <a16:creationId xmlns:a16="http://schemas.microsoft.com/office/drawing/2014/main" id="{6E799EDC-33DF-C4A1-674D-B4E5F22D002F}"/>
              </a:ext>
            </a:extLst>
          </p:cNvPr>
          <p:cNvSpPr/>
          <p:nvPr/>
        </p:nvSpPr>
        <p:spPr>
          <a:xfrm>
            <a:off x="6278270" y="1371600"/>
            <a:ext cx="5180990" cy="228600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785E7665-9FA9-5E62-097D-DA22EBAB44C8}"/>
              </a:ext>
            </a:extLst>
          </p:cNvPr>
          <p:cNvSpPr/>
          <p:nvPr/>
        </p:nvSpPr>
        <p:spPr>
          <a:xfrm>
            <a:off x="6278270" y="1371600"/>
            <a:ext cx="5180990" cy="45720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0E65D515-0A7D-BDB8-DF21-4C489230A5E3}"/>
              </a:ext>
            </a:extLst>
          </p:cNvPr>
          <p:cNvSpPr txBox="1"/>
          <p:nvPr/>
        </p:nvSpPr>
        <p:spPr>
          <a:xfrm>
            <a:off x="6415430" y="1417320"/>
            <a:ext cx="4906670" cy="365760"/>
          </a:xfrm>
          <a:prstGeom prst="rect">
            <a:avLst/>
          </a:prstGeom>
          <a:noFill/>
        </p:spPr>
        <p:txBody>
          <a:bodyPr wrap="none">
            <a:spAutoFit/>
          </a:bodyPr>
          <a:lstStyle/>
          <a:p>
            <a:pPr>
              <a:defRPr sz="1400" b="1">
                <a:solidFill>
                  <a:srgbClr val="FFFFFF"/>
                </a:solidFill>
                <a:latin typeface="Georgia"/>
              </a:defRPr>
            </a:pPr>
            <a:r>
              <a:t>RAGAS Evaluation Framework</a:t>
            </a:r>
          </a:p>
        </p:txBody>
      </p:sp>
      <p:sp>
        <p:nvSpPr>
          <p:cNvPr id="19" name="TextBox 18">
            <a:extLst>
              <a:ext uri="{FF2B5EF4-FFF2-40B4-BE49-F238E27FC236}">
                <a16:creationId xmlns:a16="http://schemas.microsoft.com/office/drawing/2014/main" id="{35AE6AF9-9938-AF79-A54B-81B8215093F8}"/>
              </a:ext>
            </a:extLst>
          </p:cNvPr>
          <p:cNvSpPr txBox="1"/>
          <p:nvPr/>
        </p:nvSpPr>
        <p:spPr>
          <a:xfrm>
            <a:off x="6461150" y="1874520"/>
            <a:ext cx="4815230" cy="1210588"/>
          </a:xfrm>
          <a:prstGeom prst="rect">
            <a:avLst/>
          </a:prstGeom>
          <a:noFill/>
        </p:spPr>
        <p:txBody>
          <a:bodyPr wrap="square">
            <a:spAutoFit/>
          </a:bodyPr>
          <a:lstStyle/>
          <a:p>
            <a:pPr>
              <a:spcAft>
                <a:spcPts val="400"/>
              </a:spcAft>
              <a:defRPr sz="1100">
                <a:solidFill>
                  <a:srgbClr val="2D3436"/>
                </a:solidFill>
                <a:latin typeface="Arial"/>
              </a:defRPr>
            </a:pPr>
            <a:r>
              <a:rPr dirty="0"/>
              <a:t>•  Automated Benchmark Harness: Evaluates system accuracy against </a:t>
            </a:r>
            <a:r>
              <a:rPr lang="en-US" dirty="0"/>
              <a:t>a predefined JSON file with questions and grounded notes</a:t>
            </a:r>
            <a:endParaRPr dirty="0"/>
          </a:p>
          <a:p>
            <a:pPr>
              <a:spcAft>
                <a:spcPts val="400"/>
              </a:spcAft>
              <a:defRPr sz="1100">
                <a:solidFill>
                  <a:srgbClr val="2D3436"/>
                </a:solidFill>
                <a:latin typeface="Arial"/>
              </a:defRPr>
            </a:pPr>
            <a:r>
              <a:rPr dirty="0"/>
              <a:t>•  LLM Judge Metric: Uses `gpt-5.4-mini` as an automated judge scoring `</a:t>
            </a:r>
            <a:r>
              <a:rPr dirty="0" err="1"/>
              <a:t>DiscreteMetric</a:t>
            </a:r>
            <a:r>
              <a:rPr dirty="0"/>
              <a:t>` ('pass'/'fail') against grading notes.</a:t>
            </a:r>
          </a:p>
          <a:p>
            <a:pPr>
              <a:spcAft>
                <a:spcPts val="400"/>
              </a:spcAft>
              <a:defRPr sz="1100">
                <a:solidFill>
                  <a:srgbClr val="2D3436"/>
                </a:solidFill>
                <a:latin typeface="Arial"/>
              </a:defRPr>
            </a:pPr>
            <a:r>
              <a:rPr dirty="0"/>
              <a:t>•  Multi-Retriever Comparison: Directly benchmarks BM25, Vector, Hybrid, and Graph retrieval strategies.</a:t>
            </a:r>
          </a:p>
        </p:txBody>
      </p:sp>
      <p:sp>
        <p:nvSpPr>
          <p:cNvPr id="21" name="Rounded Rectangle 14">
            <a:extLst>
              <a:ext uri="{FF2B5EF4-FFF2-40B4-BE49-F238E27FC236}">
                <a16:creationId xmlns:a16="http://schemas.microsoft.com/office/drawing/2014/main" id="{363C04E6-A251-8F82-D9D5-CC3960ED8AE2}"/>
              </a:ext>
            </a:extLst>
          </p:cNvPr>
          <p:cNvSpPr/>
          <p:nvPr/>
        </p:nvSpPr>
        <p:spPr>
          <a:xfrm>
            <a:off x="731520" y="3840480"/>
            <a:ext cx="5180990" cy="228600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893A8388-886C-410A-3AB4-E0FEA94ED8A1}"/>
              </a:ext>
            </a:extLst>
          </p:cNvPr>
          <p:cNvSpPr/>
          <p:nvPr/>
        </p:nvSpPr>
        <p:spPr>
          <a:xfrm>
            <a:off x="731520" y="3840480"/>
            <a:ext cx="5180990" cy="45720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3BA85464-23F7-571A-C1E5-7A6E530ED698}"/>
              </a:ext>
            </a:extLst>
          </p:cNvPr>
          <p:cNvSpPr txBox="1"/>
          <p:nvPr/>
        </p:nvSpPr>
        <p:spPr>
          <a:xfrm>
            <a:off x="868680" y="3886200"/>
            <a:ext cx="4906670" cy="365760"/>
          </a:xfrm>
          <a:prstGeom prst="rect">
            <a:avLst/>
          </a:prstGeom>
          <a:noFill/>
        </p:spPr>
        <p:txBody>
          <a:bodyPr wrap="none">
            <a:spAutoFit/>
          </a:bodyPr>
          <a:lstStyle/>
          <a:p>
            <a:pPr>
              <a:defRPr sz="1400" b="1">
                <a:solidFill>
                  <a:srgbClr val="FFFFFF"/>
                </a:solidFill>
                <a:latin typeface="Georgia"/>
              </a:defRPr>
            </a:pPr>
            <a:r>
              <a:t>Representative Results</a:t>
            </a:r>
          </a:p>
        </p:txBody>
      </p:sp>
      <p:sp>
        <p:nvSpPr>
          <p:cNvPr id="27" name="TextBox 26">
            <a:extLst>
              <a:ext uri="{FF2B5EF4-FFF2-40B4-BE49-F238E27FC236}">
                <a16:creationId xmlns:a16="http://schemas.microsoft.com/office/drawing/2014/main" id="{B970F77C-28E2-0D01-234D-AA8D59B91DE1}"/>
              </a:ext>
            </a:extLst>
          </p:cNvPr>
          <p:cNvSpPr txBox="1"/>
          <p:nvPr/>
        </p:nvSpPr>
        <p:spPr>
          <a:xfrm>
            <a:off x="914400" y="4343400"/>
            <a:ext cx="4815230" cy="1737360"/>
          </a:xfrm>
          <a:prstGeom prst="rect">
            <a:avLst/>
          </a:prstGeom>
          <a:noFill/>
        </p:spPr>
        <p:txBody>
          <a:bodyPr wrap="square">
            <a:spAutoFit/>
          </a:bodyPr>
          <a:lstStyle/>
          <a:p>
            <a:pPr>
              <a:spcAft>
                <a:spcPts val="400"/>
              </a:spcAft>
              <a:defRPr sz="1100">
                <a:solidFill>
                  <a:srgbClr val="2D3436"/>
                </a:solidFill>
                <a:latin typeface="Arial"/>
              </a:defRPr>
            </a:pPr>
            <a:r>
              <a:t>•  Pass Rate Superiority: Hybrid &amp; Graph retrievers achieve significantly higher pass rates over pure BM25 or vector baselines.</a:t>
            </a:r>
          </a:p>
          <a:p>
            <a:pPr>
              <a:spcAft>
                <a:spcPts val="400"/>
              </a:spcAft>
              <a:defRPr sz="1100">
                <a:solidFill>
                  <a:srgbClr val="2D3436"/>
                </a:solidFill>
                <a:latin typeface="Arial"/>
              </a:defRPr>
            </a:pPr>
            <a:r>
              <a:t>•  Topic File Precision: `retrieve_by_topic_node` achieves 100% file coverage on named enterprise topics.</a:t>
            </a:r>
          </a:p>
          <a:p>
            <a:pPr>
              <a:spcAft>
                <a:spcPts val="400"/>
              </a:spcAft>
              <a:defRPr sz="1100">
                <a:solidFill>
                  <a:srgbClr val="2D3436"/>
                </a:solidFill>
                <a:latin typeface="Arial"/>
              </a:defRPr>
            </a:pPr>
            <a:r>
              <a:t>•  Strict Non-Hallucination: Bounded prompts correctly output refusals on out-of-scope evaluation questions.</a:t>
            </a:r>
          </a:p>
        </p:txBody>
      </p:sp>
      <p:sp>
        <p:nvSpPr>
          <p:cNvPr id="29" name="Rounded Rectangle 18">
            <a:extLst>
              <a:ext uri="{FF2B5EF4-FFF2-40B4-BE49-F238E27FC236}">
                <a16:creationId xmlns:a16="http://schemas.microsoft.com/office/drawing/2014/main" id="{6FA72299-1E9E-C5B9-F861-C083950C817B}"/>
              </a:ext>
            </a:extLst>
          </p:cNvPr>
          <p:cNvSpPr/>
          <p:nvPr/>
        </p:nvSpPr>
        <p:spPr>
          <a:xfrm>
            <a:off x="6278270" y="3840480"/>
            <a:ext cx="5180990" cy="228600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a:extLst>
              <a:ext uri="{FF2B5EF4-FFF2-40B4-BE49-F238E27FC236}">
                <a16:creationId xmlns:a16="http://schemas.microsoft.com/office/drawing/2014/main" id="{3702B4C4-4375-088C-3DDF-967CE5F7929F}"/>
              </a:ext>
            </a:extLst>
          </p:cNvPr>
          <p:cNvSpPr/>
          <p:nvPr/>
        </p:nvSpPr>
        <p:spPr>
          <a:xfrm>
            <a:off x="6278270" y="3840480"/>
            <a:ext cx="5180990" cy="457200"/>
          </a:xfrm>
          <a:prstGeom prst="rect">
            <a:avLst/>
          </a:prstGeom>
          <a:solidFill>
            <a:srgbClr val="23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7D7022B8-01E9-9500-1BB8-A601F8EB0D20}"/>
              </a:ext>
            </a:extLst>
          </p:cNvPr>
          <p:cNvSpPr txBox="1"/>
          <p:nvPr/>
        </p:nvSpPr>
        <p:spPr>
          <a:xfrm>
            <a:off x="6415430" y="3886200"/>
            <a:ext cx="4906670" cy="365760"/>
          </a:xfrm>
          <a:prstGeom prst="rect">
            <a:avLst/>
          </a:prstGeom>
          <a:noFill/>
        </p:spPr>
        <p:txBody>
          <a:bodyPr wrap="none">
            <a:spAutoFit/>
          </a:bodyPr>
          <a:lstStyle/>
          <a:p>
            <a:pPr>
              <a:defRPr sz="1400" b="1">
                <a:solidFill>
                  <a:srgbClr val="FFFFFF"/>
                </a:solidFill>
                <a:latin typeface="Georgia"/>
              </a:defRPr>
            </a:pPr>
            <a:r>
              <a:t>Strengths and Limitations</a:t>
            </a:r>
          </a:p>
        </p:txBody>
      </p:sp>
      <p:sp>
        <p:nvSpPr>
          <p:cNvPr id="35" name="TextBox 34">
            <a:extLst>
              <a:ext uri="{FF2B5EF4-FFF2-40B4-BE49-F238E27FC236}">
                <a16:creationId xmlns:a16="http://schemas.microsoft.com/office/drawing/2014/main" id="{439BEA46-177D-49A5-E854-2E3FEDADED1E}"/>
              </a:ext>
            </a:extLst>
          </p:cNvPr>
          <p:cNvSpPr txBox="1"/>
          <p:nvPr/>
        </p:nvSpPr>
        <p:spPr>
          <a:xfrm>
            <a:off x="6461150" y="4343400"/>
            <a:ext cx="4815230" cy="1737360"/>
          </a:xfrm>
          <a:prstGeom prst="rect">
            <a:avLst/>
          </a:prstGeom>
          <a:noFill/>
        </p:spPr>
        <p:txBody>
          <a:bodyPr wrap="square">
            <a:spAutoFit/>
          </a:bodyPr>
          <a:lstStyle/>
          <a:p>
            <a:pPr>
              <a:spcAft>
                <a:spcPts val="400"/>
              </a:spcAft>
              <a:defRPr sz="1100">
                <a:solidFill>
                  <a:srgbClr val="2D3436"/>
                </a:solidFill>
                <a:latin typeface="Arial"/>
              </a:defRPr>
            </a:pPr>
            <a:r>
              <a:t>•  Strengths: Robust multi-step reasoning, zero hallucination on missing facts, instant caching for repeated queries.</a:t>
            </a:r>
          </a:p>
          <a:p>
            <a:pPr>
              <a:spcAft>
                <a:spcPts val="400"/>
              </a:spcAft>
              <a:defRPr sz="1100">
                <a:solidFill>
                  <a:srgbClr val="2D3436"/>
                </a:solidFill>
                <a:latin typeface="Arial"/>
              </a:defRPr>
            </a:pPr>
            <a:r>
              <a:t>•  Limitations: Batch evaluation mode cannot collect live clarification inputs (`[no clarification available in batch mode]`).</a:t>
            </a:r>
          </a:p>
          <a:p>
            <a:pPr>
              <a:spcAft>
                <a:spcPts val="400"/>
              </a:spcAft>
              <a:defRPr sz="1100">
                <a:solidFill>
                  <a:srgbClr val="2D3436"/>
                </a:solidFill>
                <a:latin typeface="Arial"/>
              </a:defRPr>
            </a:pPr>
            <a:r>
              <a:t>•  Trade-off: Multi-step planning loops increase API token overhead (~91.7:1 input-to-output token ratio).</a:t>
            </a:r>
          </a:p>
        </p:txBody>
      </p:sp>
    </p:spTree>
    <p:extLst>
      <p:ext uri="{BB962C8B-B14F-4D97-AF65-F5344CB8AC3E}">
        <p14:creationId xmlns:p14="http://schemas.microsoft.com/office/powerpoint/2010/main" val="3987153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E9BBA-B5C8-CFB1-C2B5-05A1DAA113C9}"/>
              </a:ext>
            </a:extLst>
          </p:cNvPr>
          <p:cNvPicPr>
            <a:picLocks noChangeAspect="1"/>
          </p:cNvPicPr>
          <p:nvPr/>
        </p:nvPicPr>
        <p:blipFill>
          <a:blip r:embed="rId3"/>
          <a:srcRect l="47" t="-294" r="204" b="-187"/>
          <a:stretch>
            <a:fillRect/>
          </a:stretch>
        </p:blipFill>
        <p:spPr>
          <a:xfrm>
            <a:off x="0" y="0"/>
            <a:ext cx="12204913" cy="6858000"/>
          </a:xfrm>
          <a:prstGeom prst="rect">
            <a:avLst/>
          </a:prstGeom>
        </p:spPr>
      </p:pic>
    </p:spTree>
    <p:extLst>
      <p:ext uri="{BB962C8B-B14F-4D97-AF65-F5344CB8AC3E}">
        <p14:creationId xmlns:p14="http://schemas.microsoft.com/office/powerpoint/2010/main" val="2514877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C92D5CD-CEED-CAF9-8E1C-650675A313C3}"/>
              </a:ext>
            </a:extLst>
          </p:cNvPr>
          <p:cNvSpPr txBox="1"/>
          <p:nvPr/>
        </p:nvSpPr>
        <p:spPr>
          <a:xfrm>
            <a:off x="3048000" y="608112"/>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Engineering Decisions</a:t>
            </a:r>
          </a:p>
        </p:txBody>
      </p:sp>
      <p:sp>
        <p:nvSpPr>
          <p:cNvPr id="4" name="Rounded Rectangle 6">
            <a:extLst>
              <a:ext uri="{FF2B5EF4-FFF2-40B4-BE49-F238E27FC236}">
                <a16:creationId xmlns:a16="http://schemas.microsoft.com/office/drawing/2014/main" id="{95846BC8-25DF-CECB-69AA-0D3DF98948FD}"/>
              </a:ext>
            </a:extLst>
          </p:cNvPr>
          <p:cNvSpPr/>
          <p:nvPr/>
        </p:nvSpPr>
        <p:spPr>
          <a:xfrm>
            <a:off x="731520" y="1371600"/>
            <a:ext cx="10728655" cy="146304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CC99474C-EC27-E482-B254-0CE4718746B5}"/>
              </a:ext>
            </a:extLst>
          </p:cNvPr>
          <p:cNvSpPr/>
          <p:nvPr/>
        </p:nvSpPr>
        <p:spPr>
          <a:xfrm>
            <a:off x="731520" y="1371600"/>
            <a:ext cx="137160" cy="1463040"/>
          </a:xfrm>
          <a:prstGeom prst="rect">
            <a:avLst/>
          </a:prstGeom>
          <a:solidFill>
            <a:srgbClr val="23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5224121B-B4A2-3A44-FF4C-82B686DC0A53}"/>
              </a:ext>
            </a:extLst>
          </p:cNvPr>
          <p:cNvSpPr txBox="1"/>
          <p:nvPr/>
        </p:nvSpPr>
        <p:spPr>
          <a:xfrm>
            <a:off x="1005840" y="1463040"/>
            <a:ext cx="10271455" cy="1280160"/>
          </a:xfrm>
          <a:prstGeom prst="rect">
            <a:avLst/>
          </a:prstGeom>
          <a:noFill/>
        </p:spPr>
        <p:txBody>
          <a:bodyPr wrap="square">
            <a:spAutoFit/>
          </a:bodyPr>
          <a:lstStyle/>
          <a:p>
            <a:pPr>
              <a:spcAft>
                <a:spcPts val="400"/>
              </a:spcAft>
              <a:defRPr sz="1500" b="1">
                <a:solidFill>
                  <a:srgbClr val="232B38"/>
                </a:solidFill>
                <a:latin typeface="Georgia"/>
              </a:defRPr>
            </a:pPr>
            <a:r>
              <a:t>Decision 1: LangGraph Stateful Agent vs. Static Single-Pass Retrieval</a:t>
            </a:r>
          </a:p>
          <a:p>
            <a:pPr>
              <a:spcAft>
                <a:spcPts val="300"/>
              </a:spcAft>
            </a:pPr>
            <a:r>
              <a:rPr sz="1100" b="1">
                <a:solidFill>
                  <a:srgbClr val="2D3436"/>
                </a:solidFill>
                <a:latin typeface="Arial"/>
              </a:rPr>
              <a:t>•  Design Rationale: </a:t>
            </a:r>
            <a:r>
              <a:rPr sz="1100">
                <a:solidFill>
                  <a:srgbClr val="2D3436"/>
                </a:solidFill>
                <a:latin typeface="Arial"/>
              </a:rPr>
              <a:t>Static RAG pipelines fail when queries require multi-step reasoning or user clarification. LangGraph provides state persistence (`_AgentState`), enabling iterative tool selection, query decomposition, and multi-turn conversation memory.</a:t>
            </a:r>
          </a:p>
          <a:p>
            <a:r>
              <a:rPr sz="1100" b="1">
                <a:solidFill>
                  <a:srgbClr val="2D3436"/>
                </a:solidFill>
                <a:latin typeface="Arial"/>
              </a:rPr>
              <a:t>•  Trade-offs &amp; Alternatives: </a:t>
            </a:r>
            <a:r>
              <a:rPr sz="1100">
                <a:solidFill>
                  <a:srgbClr val="2D3436"/>
                </a:solidFill>
                <a:latin typeface="Arial"/>
              </a:rPr>
              <a:t>Single-pass retrieval is faster but misses multi-part answer context. Multi-step planning increases token consumption (~91.7:1 input/output token ratio) but ensures answer completeness.</a:t>
            </a:r>
          </a:p>
        </p:txBody>
      </p:sp>
      <p:sp>
        <p:nvSpPr>
          <p:cNvPr id="11" name="Rounded Rectangle 9">
            <a:extLst>
              <a:ext uri="{FF2B5EF4-FFF2-40B4-BE49-F238E27FC236}">
                <a16:creationId xmlns:a16="http://schemas.microsoft.com/office/drawing/2014/main" id="{B76FD780-182B-586C-52AE-712196773565}"/>
              </a:ext>
            </a:extLst>
          </p:cNvPr>
          <p:cNvSpPr/>
          <p:nvPr/>
        </p:nvSpPr>
        <p:spPr>
          <a:xfrm>
            <a:off x="731520" y="3017520"/>
            <a:ext cx="10728655" cy="146304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02A6E5D4-606D-9A6A-516C-382BF010BAA6}"/>
              </a:ext>
            </a:extLst>
          </p:cNvPr>
          <p:cNvSpPr/>
          <p:nvPr/>
        </p:nvSpPr>
        <p:spPr>
          <a:xfrm>
            <a:off x="731520" y="3017520"/>
            <a:ext cx="137160" cy="146304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9089544-A20F-E9A4-D3C3-447C08B4BEEF}"/>
              </a:ext>
            </a:extLst>
          </p:cNvPr>
          <p:cNvSpPr txBox="1"/>
          <p:nvPr/>
        </p:nvSpPr>
        <p:spPr>
          <a:xfrm>
            <a:off x="1005840" y="3108960"/>
            <a:ext cx="10271455" cy="1280160"/>
          </a:xfrm>
          <a:prstGeom prst="rect">
            <a:avLst/>
          </a:prstGeom>
          <a:noFill/>
        </p:spPr>
        <p:txBody>
          <a:bodyPr wrap="square">
            <a:spAutoFit/>
          </a:bodyPr>
          <a:lstStyle/>
          <a:p>
            <a:pPr>
              <a:spcAft>
                <a:spcPts val="400"/>
              </a:spcAft>
              <a:defRPr sz="1500" b="1">
                <a:solidFill>
                  <a:srgbClr val="A31F34"/>
                </a:solidFill>
                <a:latin typeface="Georgia"/>
              </a:defRPr>
            </a:pPr>
            <a:r>
              <a:t>Decision 2: Pre-Retrieval Defense Stack with Fail-Closed Persona Filter</a:t>
            </a:r>
          </a:p>
          <a:p>
            <a:pPr>
              <a:spcAft>
                <a:spcPts val="300"/>
              </a:spcAft>
            </a:pPr>
            <a:r>
              <a:rPr sz="1100" b="1">
                <a:solidFill>
                  <a:srgbClr val="2D3436"/>
                </a:solidFill>
                <a:latin typeface="Arial"/>
              </a:rPr>
              <a:t>•  Design Rationale: </a:t>
            </a:r>
            <a:r>
              <a:rPr sz="1100">
                <a:solidFill>
                  <a:srgbClr val="2D3436"/>
                </a:solidFill>
                <a:latin typeface="Arial"/>
              </a:rPr>
              <a:t>Attacks like fake WikiFile injection (`BEGIN FIRST WIKI-FILE BLOCK`) must be blocked before reaching vector storage or LLM planners. The persona filter uses a lightweight LLM (`gpt-5.4-nano`) operating under a strict fail-closed security policy.</a:t>
            </a:r>
          </a:p>
          <a:p>
            <a:r>
              <a:rPr sz="1100" b="1">
                <a:solidFill>
                  <a:srgbClr val="2D3436"/>
                </a:solidFill>
                <a:latin typeface="Arial"/>
              </a:rPr>
              <a:t>•  Trade-offs &amp; Alternatives: </a:t>
            </a:r>
            <a:r>
              <a:rPr sz="1100">
                <a:solidFill>
                  <a:srgbClr val="2D3436"/>
                </a:solidFill>
                <a:latin typeface="Arial"/>
              </a:rPr>
              <a:t>Fail-open design risks leaking prompt injections during API outages; fail-closed prioritizes security compliance over temporary filter unavailability.</a:t>
            </a:r>
          </a:p>
        </p:txBody>
      </p:sp>
      <p:sp>
        <p:nvSpPr>
          <p:cNvPr id="17" name="Rounded Rectangle 12">
            <a:extLst>
              <a:ext uri="{FF2B5EF4-FFF2-40B4-BE49-F238E27FC236}">
                <a16:creationId xmlns:a16="http://schemas.microsoft.com/office/drawing/2014/main" id="{3E41F1B4-E18F-F25F-8F6E-7BEB48A4D70D}"/>
              </a:ext>
            </a:extLst>
          </p:cNvPr>
          <p:cNvSpPr/>
          <p:nvPr/>
        </p:nvSpPr>
        <p:spPr>
          <a:xfrm>
            <a:off x="731520" y="4663440"/>
            <a:ext cx="10728655" cy="146304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184B9687-0C48-D6C3-A89F-D95A78C18C7B}"/>
              </a:ext>
            </a:extLst>
          </p:cNvPr>
          <p:cNvSpPr/>
          <p:nvPr/>
        </p:nvSpPr>
        <p:spPr>
          <a:xfrm>
            <a:off x="731520" y="4663440"/>
            <a:ext cx="137160" cy="1463040"/>
          </a:xfrm>
          <a:prstGeom prst="rect">
            <a:avLst/>
          </a:prstGeom>
          <a:solidFill>
            <a:srgbClr val="23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87B26337-6A37-1031-1052-E5629DB37699}"/>
              </a:ext>
            </a:extLst>
          </p:cNvPr>
          <p:cNvSpPr txBox="1"/>
          <p:nvPr/>
        </p:nvSpPr>
        <p:spPr>
          <a:xfrm>
            <a:off x="1005840" y="4754880"/>
            <a:ext cx="10271455" cy="1280160"/>
          </a:xfrm>
          <a:prstGeom prst="rect">
            <a:avLst/>
          </a:prstGeom>
          <a:noFill/>
        </p:spPr>
        <p:txBody>
          <a:bodyPr wrap="square">
            <a:spAutoFit/>
          </a:bodyPr>
          <a:lstStyle/>
          <a:p>
            <a:pPr>
              <a:spcAft>
                <a:spcPts val="400"/>
              </a:spcAft>
              <a:defRPr sz="1500" b="1">
                <a:solidFill>
                  <a:srgbClr val="232B38"/>
                </a:solidFill>
                <a:latin typeface="Georgia"/>
              </a:defRPr>
            </a:pPr>
            <a:r>
              <a:t>Decision 3: XML Trust Hierarchy &amp; Per-Role Model Routing</a:t>
            </a:r>
          </a:p>
          <a:p>
            <a:pPr>
              <a:spcAft>
                <a:spcPts val="300"/>
              </a:spcAft>
            </a:pPr>
            <a:r>
              <a:rPr sz="1100" b="1">
                <a:solidFill>
                  <a:srgbClr val="2D3436"/>
                </a:solidFill>
                <a:latin typeface="Arial"/>
              </a:rPr>
              <a:t>•  Design Rationale: </a:t>
            </a:r>
            <a:r>
              <a:rPr sz="1100">
                <a:solidFill>
                  <a:srgbClr val="2D3436"/>
                </a:solidFill>
                <a:latin typeface="Arial"/>
              </a:rPr>
              <a:t>Enforces strict prompt boundaries (`SystemMessage` &gt; `&lt;retrieved_wikifiles&gt;` &gt; `&lt;user_question&gt;`). Per-role routing deploys high-reasoning models for planning (`gpt-5.4-mini`) and lightweight models for direct lookup/caching.</a:t>
            </a:r>
          </a:p>
          <a:p>
            <a:r>
              <a:rPr sz="1100" b="1">
                <a:solidFill>
                  <a:srgbClr val="2D3436"/>
                </a:solidFill>
                <a:latin typeface="Arial"/>
              </a:rPr>
              <a:t>•  Trade-offs &amp; Alternatives: </a:t>
            </a:r>
            <a:r>
              <a:rPr sz="1100">
                <a:solidFill>
                  <a:srgbClr val="2D3436"/>
                </a:solidFill>
                <a:latin typeface="Arial"/>
              </a:rPr>
              <a:t>Uniform expensive models (e.g. GPT-5.2 Pro) incur 10x-50x higher API costs ($0.98 vs $0.0151 per run) without improving answer formatting quality.</a:t>
            </a:r>
          </a:p>
        </p:txBody>
      </p:sp>
    </p:spTree>
    <p:extLst>
      <p:ext uri="{BB962C8B-B14F-4D97-AF65-F5344CB8AC3E}">
        <p14:creationId xmlns:p14="http://schemas.microsoft.com/office/powerpoint/2010/main" val="684907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8822D8-D529-2998-D46B-41BB9F87B091}"/>
              </a:ext>
            </a:extLst>
          </p:cNvPr>
          <p:cNvSpPr txBox="1"/>
          <p:nvPr/>
        </p:nvSpPr>
        <p:spPr>
          <a:xfrm>
            <a:off x="3048000" y="608112"/>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Limitations and Future Improvements</a:t>
            </a:r>
          </a:p>
        </p:txBody>
      </p:sp>
      <p:sp>
        <p:nvSpPr>
          <p:cNvPr id="4" name="Rounded Rectangle 6">
            <a:extLst>
              <a:ext uri="{FF2B5EF4-FFF2-40B4-BE49-F238E27FC236}">
                <a16:creationId xmlns:a16="http://schemas.microsoft.com/office/drawing/2014/main" id="{59A147DF-957F-E1C0-02A1-776BEA925412}"/>
              </a:ext>
            </a:extLst>
          </p:cNvPr>
          <p:cNvSpPr/>
          <p:nvPr/>
        </p:nvSpPr>
        <p:spPr>
          <a:xfrm>
            <a:off x="731520" y="1371600"/>
            <a:ext cx="3328416" cy="484632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831B8E17-A61E-9F5B-DA95-E5D347EACAF8}"/>
              </a:ext>
            </a:extLst>
          </p:cNvPr>
          <p:cNvSpPr/>
          <p:nvPr/>
        </p:nvSpPr>
        <p:spPr>
          <a:xfrm>
            <a:off x="731520" y="1371600"/>
            <a:ext cx="3328416" cy="73152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D474ACE4-97A2-27D9-F450-9FF35B79CE59}"/>
              </a:ext>
            </a:extLst>
          </p:cNvPr>
          <p:cNvSpPr txBox="1"/>
          <p:nvPr/>
        </p:nvSpPr>
        <p:spPr>
          <a:xfrm>
            <a:off x="868680" y="1508760"/>
            <a:ext cx="3054096" cy="457200"/>
          </a:xfrm>
          <a:prstGeom prst="rect">
            <a:avLst/>
          </a:prstGeom>
          <a:noFill/>
        </p:spPr>
        <p:txBody>
          <a:bodyPr wrap="none">
            <a:spAutoFit/>
          </a:bodyPr>
          <a:lstStyle/>
          <a:p>
            <a:pPr>
              <a:defRPr sz="1600" b="1">
                <a:solidFill>
                  <a:srgbClr val="FFFFFF"/>
                </a:solidFill>
                <a:latin typeface="Georgia"/>
              </a:defRPr>
            </a:pPr>
            <a:r>
              <a:t>Remaining Limitations</a:t>
            </a:r>
          </a:p>
        </p:txBody>
      </p:sp>
      <p:sp>
        <p:nvSpPr>
          <p:cNvPr id="11" name="TextBox 10">
            <a:extLst>
              <a:ext uri="{FF2B5EF4-FFF2-40B4-BE49-F238E27FC236}">
                <a16:creationId xmlns:a16="http://schemas.microsoft.com/office/drawing/2014/main" id="{784F8C29-AD0E-8B90-DBB8-30E24C69DDCA}"/>
              </a:ext>
            </a:extLst>
          </p:cNvPr>
          <p:cNvSpPr txBox="1"/>
          <p:nvPr/>
        </p:nvSpPr>
        <p:spPr>
          <a:xfrm>
            <a:off x="914400" y="2240280"/>
            <a:ext cx="2962656" cy="1882567"/>
          </a:xfrm>
          <a:prstGeom prst="rect">
            <a:avLst/>
          </a:prstGeom>
          <a:noFill/>
        </p:spPr>
        <p:txBody>
          <a:bodyPr wrap="square">
            <a:spAutoFit/>
          </a:bodyPr>
          <a:lstStyle/>
          <a:p>
            <a:pPr>
              <a:spcAft>
                <a:spcPts val="1000"/>
              </a:spcAft>
              <a:defRPr sz="1200">
                <a:solidFill>
                  <a:srgbClr val="2D3436"/>
                </a:solidFill>
                <a:latin typeface="Arial"/>
              </a:defRPr>
            </a:pPr>
            <a:r>
              <a:rPr dirty="0"/>
              <a:t>•  Batch Evaluation Clarifications: In benchmark mode (`mode='batch'`), `</a:t>
            </a:r>
            <a:r>
              <a:rPr dirty="0" err="1"/>
              <a:t>clarify_node</a:t>
            </a:r>
            <a:r>
              <a:rPr dirty="0"/>
              <a:t>` cannot collect live user input and appends default static text.</a:t>
            </a:r>
          </a:p>
          <a:p>
            <a:pPr>
              <a:spcAft>
                <a:spcPts val="1000"/>
              </a:spcAft>
              <a:defRPr sz="1200">
                <a:solidFill>
                  <a:srgbClr val="2D3436"/>
                </a:solidFill>
                <a:latin typeface="Arial"/>
              </a:defRPr>
            </a:pPr>
            <a:r>
              <a:rPr dirty="0"/>
              <a:t>•  Filename-Based Date Extraction: `</a:t>
            </a:r>
            <a:r>
              <a:rPr dirty="0" err="1"/>
              <a:t>retrieve_by_date</a:t>
            </a:r>
            <a:r>
              <a:rPr dirty="0"/>
              <a:t>` relies on strict filename patterns (`wiki_MM_DD_YY.txt`) rather than internal document metadata.</a:t>
            </a:r>
          </a:p>
        </p:txBody>
      </p:sp>
      <p:sp>
        <p:nvSpPr>
          <p:cNvPr id="13" name="Rounded Rectangle 10">
            <a:extLst>
              <a:ext uri="{FF2B5EF4-FFF2-40B4-BE49-F238E27FC236}">
                <a16:creationId xmlns:a16="http://schemas.microsoft.com/office/drawing/2014/main" id="{5941D02E-17C6-680A-78BB-CE8354E84493}"/>
              </a:ext>
            </a:extLst>
          </p:cNvPr>
          <p:cNvSpPr/>
          <p:nvPr/>
        </p:nvSpPr>
        <p:spPr>
          <a:xfrm>
            <a:off x="4425696" y="1371600"/>
            <a:ext cx="3328416" cy="484632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9E4FA5D2-595A-150E-C787-C970547614FC}"/>
              </a:ext>
            </a:extLst>
          </p:cNvPr>
          <p:cNvSpPr/>
          <p:nvPr/>
        </p:nvSpPr>
        <p:spPr>
          <a:xfrm>
            <a:off x="4425696" y="1371600"/>
            <a:ext cx="3328416" cy="731520"/>
          </a:xfrm>
          <a:prstGeom prst="rect">
            <a:avLst/>
          </a:prstGeom>
          <a:solidFill>
            <a:srgbClr val="23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AC5C8A9F-BA8A-02E6-0C28-C912E4C7C7EA}"/>
              </a:ext>
            </a:extLst>
          </p:cNvPr>
          <p:cNvSpPr txBox="1"/>
          <p:nvPr/>
        </p:nvSpPr>
        <p:spPr>
          <a:xfrm>
            <a:off x="4562856" y="1508760"/>
            <a:ext cx="3054096" cy="457200"/>
          </a:xfrm>
          <a:prstGeom prst="rect">
            <a:avLst/>
          </a:prstGeom>
          <a:noFill/>
        </p:spPr>
        <p:txBody>
          <a:bodyPr wrap="none">
            <a:spAutoFit/>
          </a:bodyPr>
          <a:lstStyle/>
          <a:p>
            <a:pPr>
              <a:defRPr sz="1600" b="1">
                <a:solidFill>
                  <a:srgbClr val="FFFFFF"/>
                </a:solidFill>
                <a:latin typeface="Georgia"/>
              </a:defRPr>
            </a:pPr>
            <a:r>
              <a:t>Known Operational Risks</a:t>
            </a:r>
          </a:p>
        </p:txBody>
      </p:sp>
      <p:sp>
        <p:nvSpPr>
          <p:cNvPr id="19" name="TextBox 18">
            <a:extLst>
              <a:ext uri="{FF2B5EF4-FFF2-40B4-BE49-F238E27FC236}">
                <a16:creationId xmlns:a16="http://schemas.microsoft.com/office/drawing/2014/main" id="{1DF79001-40B9-8CE4-BEC3-FE4289DA0E6D}"/>
              </a:ext>
            </a:extLst>
          </p:cNvPr>
          <p:cNvSpPr txBox="1"/>
          <p:nvPr/>
        </p:nvSpPr>
        <p:spPr>
          <a:xfrm>
            <a:off x="4608576" y="2240280"/>
            <a:ext cx="2962656" cy="1882567"/>
          </a:xfrm>
          <a:prstGeom prst="rect">
            <a:avLst/>
          </a:prstGeom>
          <a:noFill/>
        </p:spPr>
        <p:txBody>
          <a:bodyPr wrap="square">
            <a:spAutoFit/>
          </a:bodyPr>
          <a:lstStyle/>
          <a:p>
            <a:pPr>
              <a:spcAft>
                <a:spcPts val="1000"/>
              </a:spcAft>
              <a:defRPr sz="1200">
                <a:solidFill>
                  <a:srgbClr val="2D3436"/>
                </a:solidFill>
                <a:latin typeface="Arial"/>
              </a:defRPr>
            </a:pPr>
            <a:r>
              <a:rPr dirty="0"/>
              <a:t>•  Regex Sanitization Over-breadth: Header stripping regex (`_WIKIFILE_HEADER_RE`) could strip legitimate user text that resembles email headers.</a:t>
            </a:r>
          </a:p>
          <a:p>
            <a:pPr>
              <a:spcAft>
                <a:spcPts val="1000"/>
              </a:spcAft>
              <a:defRPr sz="1200">
                <a:solidFill>
                  <a:srgbClr val="2D3436"/>
                </a:solidFill>
                <a:latin typeface="Arial"/>
              </a:defRPr>
            </a:pPr>
            <a:r>
              <a:rPr dirty="0"/>
              <a:t>•  Chroma Vector Re-indexing: Re-building the Chroma vector database on corpus updates adds startup latency during initial system load.</a:t>
            </a:r>
          </a:p>
        </p:txBody>
      </p:sp>
      <p:sp>
        <p:nvSpPr>
          <p:cNvPr id="21" name="Rounded Rectangle 14">
            <a:extLst>
              <a:ext uri="{FF2B5EF4-FFF2-40B4-BE49-F238E27FC236}">
                <a16:creationId xmlns:a16="http://schemas.microsoft.com/office/drawing/2014/main" id="{F040A591-752C-57A7-6F7F-63311558B0AA}"/>
              </a:ext>
            </a:extLst>
          </p:cNvPr>
          <p:cNvSpPr/>
          <p:nvPr/>
        </p:nvSpPr>
        <p:spPr>
          <a:xfrm>
            <a:off x="8119871" y="1371600"/>
            <a:ext cx="3453819" cy="484632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509F26C4-317E-2748-11CB-B2819062E8D1}"/>
              </a:ext>
            </a:extLst>
          </p:cNvPr>
          <p:cNvSpPr/>
          <p:nvPr/>
        </p:nvSpPr>
        <p:spPr>
          <a:xfrm>
            <a:off x="8119872" y="1371600"/>
            <a:ext cx="3453818" cy="731520"/>
          </a:xfrm>
          <a:prstGeom prst="rect">
            <a:avLst/>
          </a:prstGeom>
          <a:solidFill>
            <a:srgbClr val="232B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916FE9C2-9BE1-C89A-301A-8C9534DD8AF2}"/>
              </a:ext>
            </a:extLst>
          </p:cNvPr>
          <p:cNvSpPr txBox="1"/>
          <p:nvPr/>
        </p:nvSpPr>
        <p:spPr>
          <a:xfrm>
            <a:off x="8119873" y="1508760"/>
            <a:ext cx="3453817" cy="276999"/>
          </a:xfrm>
          <a:prstGeom prst="rect">
            <a:avLst/>
          </a:prstGeom>
          <a:noFill/>
        </p:spPr>
        <p:txBody>
          <a:bodyPr wrap="square">
            <a:spAutoFit/>
          </a:bodyPr>
          <a:lstStyle/>
          <a:p>
            <a:pPr>
              <a:defRPr sz="1600" b="1">
                <a:solidFill>
                  <a:srgbClr val="FFFFFF"/>
                </a:solidFill>
                <a:latin typeface="Georgia"/>
              </a:defRPr>
            </a:pPr>
            <a:r>
              <a:rPr sz="1200" dirty="0"/>
              <a:t>Future Roadmap &amp; Enhancements</a:t>
            </a:r>
          </a:p>
        </p:txBody>
      </p:sp>
      <p:sp>
        <p:nvSpPr>
          <p:cNvPr id="27" name="TextBox 26">
            <a:extLst>
              <a:ext uri="{FF2B5EF4-FFF2-40B4-BE49-F238E27FC236}">
                <a16:creationId xmlns:a16="http://schemas.microsoft.com/office/drawing/2014/main" id="{B10F47DC-8A0A-EF56-4A16-EB0EA3DD9CCF}"/>
              </a:ext>
            </a:extLst>
          </p:cNvPr>
          <p:cNvSpPr txBox="1"/>
          <p:nvPr/>
        </p:nvSpPr>
        <p:spPr>
          <a:xfrm>
            <a:off x="8302752" y="2240280"/>
            <a:ext cx="2962656" cy="1882567"/>
          </a:xfrm>
          <a:prstGeom prst="rect">
            <a:avLst/>
          </a:prstGeom>
          <a:noFill/>
        </p:spPr>
        <p:txBody>
          <a:bodyPr wrap="square">
            <a:spAutoFit/>
          </a:bodyPr>
          <a:lstStyle/>
          <a:p>
            <a:pPr>
              <a:spcAft>
                <a:spcPts val="1000"/>
              </a:spcAft>
              <a:defRPr sz="1200">
                <a:solidFill>
                  <a:srgbClr val="2D3436"/>
                </a:solidFill>
                <a:latin typeface="Arial"/>
              </a:defRPr>
            </a:pPr>
            <a:r>
              <a:rPr dirty="0"/>
              <a:t>•  Integrated Graph Tool Node: Embed </a:t>
            </a:r>
            <a:r>
              <a:rPr dirty="0" err="1"/>
              <a:t>NetworkX</a:t>
            </a:r>
            <a:r>
              <a:rPr dirty="0"/>
              <a:t> graph traversal (`</a:t>
            </a:r>
            <a:r>
              <a:rPr dirty="0" err="1"/>
              <a:t>GraphRetriever</a:t>
            </a:r>
            <a:r>
              <a:rPr dirty="0"/>
              <a:t>`) directly as an agent tool node inside `</a:t>
            </a:r>
            <a:r>
              <a:rPr dirty="0" err="1"/>
              <a:t>StateGraph</a:t>
            </a:r>
            <a:r>
              <a:rPr dirty="0"/>
              <a:t>`.</a:t>
            </a:r>
          </a:p>
          <a:p>
            <a:pPr>
              <a:spcAft>
                <a:spcPts val="1000"/>
              </a:spcAft>
              <a:defRPr sz="1200">
                <a:solidFill>
                  <a:srgbClr val="2D3436"/>
                </a:solidFill>
                <a:latin typeface="Arial"/>
              </a:defRPr>
            </a:pPr>
            <a:r>
              <a:rPr dirty="0"/>
              <a:t>•  Automated Query Relaxation: Implement query relaxation in `</a:t>
            </a:r>
            <a:r>
              <a:rPr dirty="0" err="1"/>
              <a:t>clarify_node</a:t>
            </a:r>
            <a:r>
              <a:rPr dirty="0"/>
              <a:t>` during batch evaluation to auto-resolve ambiguous benchmark prompts.</a:t>
            </a:r>
          </a:p>
        </p:txBody>
      </p:sp>
    </p:spTree>
    <p:extLst>
      <p:ext uri="{BB962C8B-B14F-4D97-AF65-F5344CB8AC3E}">
        <p14:creationId xmlns:p14="http://schemas.microsoft.com/office/powerpoint/2010/main" val="2040043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C194A9-F1E1-72C8-1AE6-518327611781}"/>
              </a:ext>
            </a:extLst>
          </p:cNvPr>
          <p:cNvSpPr txBox="1"/>
          <p:nvPr/>
        </p:nvSpPr>
        <p:spPr>
          <a:xfrm>
            <a:off x="130628" y="1210491"/>
            <a:ext cx="11852366" cy="1815882"/>
          </a:xfrm>
          <a:prstGeom prst="rect">
            <a:avLst/>
          </a:prstGeom>
          <a:noFill/>
          <a:ln>
            <a:solidFill>
              <a:srgbClr val="A31F34"/>
            </a:solidFill>
          </a:ln>
        </p:spPr>
        <p:txBody>
          <a:bodyPr wrap="square" rtlCol="0">
            <a:spAutoFit/>
          </a:bodyPr>
          <a:lstStyle/>
          <a:p>
            <a:r>
              <a:rPr lang="en-US" dirty="0"/>
              <a:t>**Who approved it?**  </a:t>
            </a:r>
          </a:p>
          <a:p>
            <a:r>
              <a:rPr lang="en-US" dirty="0"/>
              <a:t>The supplied </a:t>
            </a:r>
            <a:r>
              <a:rPr lang="en-US" dirty="0" err="1"/>
              <a:t>WikiFiles</a:t>
            </a:r>
            <a:r>
              <a:rPr lang="en-US" dirty="0"/>
              <a:t> do not name a specific individual or body that formally approved the Apollo 11 mission. The documents describe the mission’s planning, goals set by President John F. Kennedy, and the NASA teams that executed it, but they do not record a definitive approval authority.</a:t>
            </a:r>
          </a:p>
          <a:p>
            <a:r>
              <a:rPr lang="en-US" dirty="0"/>
              <a:t> </a:t>
            </a:r>
          </a:p>
          <a:p>
            <a:r>
              <a:rPr lang="en-US" dirty="0"/>
              <a:t>**When was it launched?**  </a:t>
            </a:r>
          </a:p>
          <a:p>
            <a:r>
              <a:rPr lang="en-US" dirty="0"/>
              <a:t>Apollo 11 launched on **16 July 1969 at 13:32:00 UTC** (9:32 am EDT) aboard the Saturn V SA‑506 from Launch Complex 39A at Kennedy Space Center.</a:t>
            </a:r>
          </a:p>
          <a:p>
            <a:endParaRPr lang="en-US" dirty="0"/>
          </a:p>
        </p:txBody>
      </p:sp>
      <p:sp>
        <p:nvSpPr>
          <p:cNvPr id="4" name="TextBox 3">
            <a:extLst>
              <a:ext uri="{FF2B5EF4-FFF2-40B4-BE49-F238E27FC236}">
                <a16:creationId xmlns:a16="http://schemas.microsoft.com/office/drawing/2014/main" id="{D7FD3BC2-56EE-5E37-F7CF-9FAE530F7C5C}"/>
              </a:ext>
            </a:extLst>
          </p:cNvPr>
          <p:cNvSpPr txBox="1"/>
          <p:nvPr/>
        </p:nvSpPr>
        <p:spPr>
          <a:xfrm>
            <a:off x="3048000" y="608112"/>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Evidence</a:t>
            </a:r>
          </a:p>
        </p:txBody>
      </p:sp>
      <p:sp>
        <p:nvSpPr>
          <p:cNvPr id="5" name="TextBox 4">
            <a:extLst>
              <a:ext uri="{FF2B5EF4-FFF2-40B4-BE49-F238E27FC236}">
                <a16:creationId xmlns:a16="http://schemas.microsoft.com/office/drawing/2014/main" id="{A634825A-66C0-E56E-30B5-79F07D8A5B47}"/>
              </a:ext>
            </a:extLst>
          </p:cNvPr>
          <p:cNvSpPr txBox="1"/>
          <p:nvPr/>
        </p:nvSpPr>
        <p:spPr>
          <a:xfrm>
            <a:off x="130628" y="3257006"/>
            <a:ext cx="8717451" cy="954107"/>
          </a:xfrm>
          <a:prstGeom prst="rect">
            <a:avLst/>
          </a:prstGeom>
          <a:noFill/>
          <a:ln>
            <a:solidFill>
              <a:srgbClr val="A31F34"/>
            </a:solidFill>
          </a:ln>
        </p:spPr>
        <p:txBody>
          <a:bodyPr wrap="none" rtlCol="0">
            <a:spAutoFit/>
          </a:bodyPr>
          <a:lstStyle/>
          <a:p>
            <a:r>
              <a:rPr lang="en-US" dirty="0"/>
              <a:t>You: How do you define Apollo 11 as success or failure?</a:t>
            </a:r>
          </a:p>
          <a:p>
            <a:r>
              <a:rPr lang="en-US" dirty="0"/>
              <a:t> </a:t>
            </a:r>
          </a:p>
          <a:p>
            <a:r>
              <a:rPr lang="en-US" dirty="0"/>
              <a:t>Assistant: The provided </a:t>
            </a:r>
            <a:r>
              <a:rPr lang="en-US" dirty="0" err="1"/>
              <a:t>WikiFiles</a:t>
            </a:r>
            <a:r>
              <a:rPr lang="en-US" dirty="0"/>
              <a:t> do not contain information that defines Apollo 11 as a success or a failure.</a:t>
            </a:r>
          </a:p>
          <a:p>
            <a:endParaRPr lang="en-US" dirty="0"/>
          </a:p>
        </p:txBody>
      </p:sp>
    </p:spTree>
    <p:extLst>
      <p:ext uri="{BB962C8B-B14F-4D97-AF65-F5344CB8AC3E}">
        <p14:creationId xmlns:p14="http://schemas.microsoft.com/office/powerpoint/2010/main" val="3551819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7DAD0-5535-06EA-AE03-F2C195BCC2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150DFE-DC88-C9B0-F665-CB755211E1A1}"/>
              </a:ext>
            </a:extLst>
          </p:cNvPr>
          <p:cNvSpPr txBox="1"/>
          <p:nvPr/>
        </p:nvSpPr>
        <p:spPr>
          <a:xfrm>
            <a:off x="130628" y="1210491"/>
            <a:ext cx="11852366" cy="5016758"/>
          </a:xfrm>
          <a:prstGeom prst="rect">
            <a:avLst/>
          </a:prstGeom>
          <a:noFill/>
          <a:ln>
            <a:solidFill>
              <a:srgbClr val="A31F34"/>
            </a:solidFill>
          </a:ln>
        </p:spPr>
        <p:txBody>
          <a:bodyPr wrap="square" rtlCol="0">
            <a:spAutoFit/>
          </a:bodyPr>
          <a:lstStyle/>
          <a:p>
            <a:r>
              <a:rPr lang="en-US" sz="800" dirty="0"/>
              <a:t>==============================================================================</a:t>
            </a:r>
          </a:p>
          <a:p>
            <a:r>
              <a:rPr lang="en-US" sz="800" dirty="0"/>
              <a:t>EXPERIMENT: BASELINE — un-optimized full agent (no cache, no router)</a:t>
            </a:r>
          </a:p>
          <a:p>
            <a:r>
              <a:rPr lang="en-US" sz="800" dirty="0"/>
              <a:t>==============================================================================</a:t>
            </a:r>
          </a:p>
          <a:p>
            <a:r>
              <a:rPr lang="en-US" sz="800" dirty="0"/>
              <a:t>Loading existing vector DB from </a:t>
            </a:r>
            <a:r>
              <a:rPr lang="en-US" sz="800" dirty="0" err="1"/>
              <a:t>chroma_db</a:t>
            </a:r>
            <a:r>
              <a:rPr lang="en-US" sz="800" dirty="0"/>
              <a:t>/</a:t>
            </a:r>
          </a:p>
          <a:p>
            <a:r>
              <a:rPr lang="en-US" sz="800" dirty="0"/>
              <a:t> </a:t>
            </a:r>
          </a:p>
          <a:p>
            <a:r>
              <a:rPr lang="en-US" sz="800" dirty="0"/>
              <a:t>Q1. Tell me something about Apollo 11?</a:t>
            </a:r>
          </a:p>
          <a:p>
            <a:r>
              <a:rPr lang="en-US" sz="800" dirty="0"/>
              <a:t>    -&gt; Apollo 11 was the American spaceflight that first landed humans on the Moon. It launched on July 16, 1969, with Neil Armstrong, Buzz Aldrin, and Michael Coll...</a:t>
            </a:r>
          </a:p>
          <a:p>
            <a:r>
              <a:rPr lang="en-US" sz="800" dirty="0"/>
              <a:t> </a:t>
            </a:r>
          </a:p>
          <a:p>
            <a:r>
              <a:rPr lang="en-US" sz="800" dirty="0"/>
              <a:t>Q2. What was decided about the government project?</a:t>
            </a:r>
          </a:p>
          <a:p>
            <a:r>
              <a:rPr lang="en-US" sz="800" dirty="0"/>
              <a:t>    -&gt; The e-mails indicate that it was decided the commander would be the first to exit the spacecraft and walk on the Moon. In Apollo 11’s case, that meant Neil A...</a:t>
            </a:r>
          </a:p>
          <a:p>
            <a:r>
              <a:rPr lang="en-US" sz="800" dirty="0"/>
              <a:t> </a:t>
            </a:r>
          </a:p>
          <a:p>
            <a:r>
              <a:rPr lang="en-US" sz="800" dirty="0"/>
              <a:t>Q3. Who was Nikita Khrushchev?</a:t>
            </a:r>
          </a:p>
          <a:p>
            <a:r>
              <a:rPr lang="en-US" sz="800" dirty="0"/>
              <a:t>    -&gt; Nikita Khrushchev was the Premier of the Soviet Union. In the emails, he is mentioned as the Soviet leader whom President Kennedy met with in June 1961, and ...</a:t>
            </a:r>
          </a:p>
          <a:p>
            <a:r>
              <a:rPr lang="en-US" sz="800" dirty="0"/>
              <a:t> </a:t>
            </a:r>
          </a:p>
          <a:p>
            <a:r>
              <a:rPr lang="en-US" sz="800" dirty="0"/>
              <a:t>Q4. Why did Armstrong refused to put their names on emblem?</a:t>
            </a:r>
          </a:p>
          <a:p>
            <a:r>
              <a:rPr lang="en-US" sz="800" dirty="0"/>
              <a:t>    -&gt; Armstrong and the others decided not to put their names on the Apollo 11 patch so it would “be representative of everyone who had worked toward a lunar </a:t>
            </a:r>
            <a:r>
              <a:rPr lang="en-US" sz="800" dirty="0" err="1"/>
              <a:t>landi</a:t>
            </a:r>
            <a:r>
              <a:rPr lang="en-US" sz="800" dirty="0"/>
              <a:t>...</a:t>
            </a:r>
          </a:p>
          <a:p>
            <a:r>
              <a:rPr lang="en-US" sz="800" dirty="0"/>
              <a:t> </a:t>
            </a:r>
          </a:p>
          <a:p>
            <a:r>
              <a:rPr lang="en-US" sz="800" dirty="0"/>
              <a:t>Token usage:</a:t>
            </a:r>
          </a:p>
          <a:p>
            <a:r>
              <a:rPr lang="en-US" sz="800" dirty="0" err="1">
                <a:highlight>
                  <a:srgbClr val="FFFF00"/>
                </a:highlight>
              </a:rPr>
              <a:t>openai</a:t>
            </a:r>
            <a:r>
              <a:rPr lang="en-US" sz="800" dirty="0">
                <a:highlight>
                  <a:srgbClr val="FFFF00"/>
                </a:highlight>
              </a:rPr>
              <a:t>/gpt-5.4-mini: 62643 input, 776 output, 0 cached</a:t>
            </a:r>
          </a:p>
          <a:p>
            <a:r>
              <a:rPr lang="en-US" sz="800" dirty="0"/>
              <a:t> </a:t>
            </a:r>
          </a:p>
          <a:p>
            <a:r>
              <a:rPr lang="en-US" sz="800" dirty="0"/>
              <a:t>==============================================================================</a:t>
            </a:r>
          </a:p>
          <a:p>
            <a:r>
              <a:rPr lang="en-US" sz="800" dirty="0"/>
              <a:t>EXPERIMENT: OPTIMIZED — semantic cache + query router</a:t>
            </a:r>
          </a:p>
          <a:p>
            <a:r>
              <a:rPr lang="en-US" sz="800" dirty="0"/>
              <a:t>==============================================================================</a:t>
            </a:r>
          </a:p>
          <a:p>
            <a:r>
              <a:rPr lang="en-US" sz="800" dirty="0"/>
              <a:t>Loading existing vector DB from </a:t>
            </a:r>
            <a:r>
              <a:rPr lang="en-US" sz="800" dirty="0" err="1"/>
              <a:t>chroma_db</a:t>
            </a:r>
            <a:r>
              <a:rPr lang="en-US" sz="800" dirty="0"/>
              <a:t>/</a:t>
            </a:r>
          </a:p>
          <a:p>
            <a:r>
              <a:rPr lang="en-US" sz="800" dirty="0"/>
              <a:t> </a:t>
            </a:r>
          </a:p>
          <a:p>
            <a:r>
              <a:rPr lang="en-US" sz="800" dirty="0"/>
              <a:t>Q1. Tell me something about Apollo 11?</a:t>
            </a:r>
          </a:p>
          <a:p>
            <a:r>
              <a:rPr lang="en-US" sz="800" dirty="0"/>
              <a:t>    -&gt; Apollo 11 was the American spaceflight that first landed humans on the Moon. It launched on July 16, 1969, and the crew were Neil Armstrong, Michael Collins,...</a:t>
            </a:r>
          </a:p>
          <a:p>
            <a:r>
              <a:rPr lang="en-US" sz="800" dirty="0"/>
              <a:t> </a:t>
            </a:r>
          </a:p>
          <a:p>
            <a:r>
              <a:rPr lang="en-US" sz="800" dirty="0"/>
              <a:t>Q2. What was decided about the government project?</a:t>
            </a:r>
          </a:p>
          <a:p>
            <a:r>
              <a:rPr lang="en-US" sz="800" dirty="0"/>
              <a:t>    -&gt; The e-mails do not mention a government project decision. They only say that NASA officials hoped the space program could spur progressing other areas, such ...</a:t>
            </a:r>
          </a:p>
          <a:p>
            <a:r>
              <a:rPr lang="en-US" sz="800" dirty="0"/>
              <a:t> </a:t>
            </a:r>
          </a:p>
          <a:p>
            <a:r>
              <a:rPr lang="en-US" sz="800" dirty="0"/>
              <a:t>Q3. Who was Nikita Khrushchev?</a:t>
            </a:r>
          </a:p>
          <a:p>
            <a:r>
              <a:rPr lang="en-US" sz="800" dirty="0"/>
              <a:t>    -&gt; The e-mails identify Nikita Khrushchev as the Premier of the Soviet Union.</a:t>
            </a:r>
          </a:p>
          <a:p>
            <a:r>
              <a:rPr lang="en-US" sz="800" dirty="0"/>
              <a:t> </a:t>
            </a:r>
          </a:p>
          <a:p>
            <a:r>
              <a:rPr lang="en-US" sz="800" dirty="0"/>
              <a:t>Q4. Why did Armstrong refused to put their names on emblem?</a:t>
            </a:r>
          </a:p>
          <a:p>
            <a:r>
              <a:rPr lang="en-US" sz="800" dirty="0"/>
              <a:t>    -&gt; Armstrong and the others decided not to put their names on the patch so it would be “representative of everyone who had worked toward a lunar landing.”</a:t>
            </a:r>
          </a:p>
          <a:p>
            <a:r>
              <a:rPr lang="en-US" sz="800" dirty="0"/>
              <a:t> </a:t>
            </a:r>
          </a:p>
          <a:p>
            <a:r>
              <a:rPr lang="en-US" sz="800" dirty="0"/>
              <a:t>Token usage:</a:t>
            </a:r>
          </a:p>
          <a:p>
            <a:r>
              <a:rPr lang="en-US" sz="800" dirty="0" err="1">
                <a:highlight>
                  <a:srgbClr val="FFFF00"/>
                </a:highlight>
              </a:rPr>
              <a:t>openai</a:t>
            </a:r>
            <a:r>
              <a:rPr lang="en-US" sz="800" dirty="0">
                <a:highlight>
                  <a:srgbClr val="FFFF00"/>
                </a:highlight>
              </a:rPr>
              <a:t>/gpt-5.4-mini: 27148 input, 283 output, 3840 cached</a:t>
            </a:r>
          </a:p>
          <a:p>
            <a:endParaRPr lang="en-US" sz="800" dirty="0"/>
          </a:p>
        </p:txBody>
      </p:sp>
      <p:sp>
        <p:nvSpPr>
          <p:cNvPr id="4" name="TextBox 3">
            <a:extLst>
              <a:ext uri="{FF2B5EF4-FFF2-40B4-BE49-F238E27FC236}">
                <a16:creationId xmlns:a16="http://schemas.microsoft.com/office/drawing/2014/main" id="{CE22E5C7-DD0E-B1C2-3452-D08E6916D7C1}"/>
              </a:ext>
            </a:extLst>
          </p:cNvPr>
          <p:cNvSpPr txBox="1"/>
          <p:nvPr/>
        </p:nvSpPr>
        <p:spPr>
          <a:xfrm>
            <a:off x="3048000" y="608112"/>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Evidence</a:t>
            </a:r>
          </a:p>
        </p:txBody>
      </p:sp>
    </p:spTree>
    <p:extLst>
      <p:ext uri="{BB962C8B-B14F-4D97-AF65-F5344CB8AC3E}">
        <p14:creationId xmlns:p14="http://schemas.microsoft.com/office/powerpoint/2010/main" val="1470700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FE4D497-87C5-39D6-FAF0-4FE272E0EB7E}"/>
              </a:ext>
            </a:extLst>
          </p:cNvPr>
          <p:cNvSpPr txBox="1"/>
          <p:nvPr/>
        </p:nvSpPr>
        <p:spPr>
          <a:xfrm>
            <a:off x="3048000" y="608112"/>
            <a:ext cx="609600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Thanks</a:t>
            </a:r>
          </a:p>
        </p:txBody>
      </p:sp>
      <p:sp>
        <p:nvSpPr>
          <p:cNvPr id="4" name="Rounded Rectangle 6">
            <a:extLst>
              <a:ext uri="{FF2B5EF4-FFF2-40B4-BE49-F238E27FC236}">
                <a16:creationId xmlns:a16="http://schemas.microsoft.com/office/drawing/2014/main" id="{4732B763-4003-4996-9F8F-94ADE9CECC92}"/>
              </a:ext>
            </a:extLst>
          </p:cNvPr>
          <p:cNvSpPr/>
          <p:nvPr/>
        </p:nvSpPr>
        <p:spPr>
          <a:xfrm>
            <a:off x="1371600" y="1371600"/>
            <a:ext cx="9448495" cy="4754880"/>
          </a:xfrm>
          <a:prstGeom prst="roundRect">
            <a:avLst/>
          </a:prstGeom>
          <a:solidFill>
            <a:srgbClr val="FFFFFF"/>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F4EC2509-3FBD-BEB7-8B65-2CDFD50FC724}"/>
              </a:ext>
            </a:extLst>
          </p:cNvPr>
          <p:cNvSpPr/>
          <p:nvPr/>
        </p:nvSpPr>
        <p:spPr>
          <a:xfrm>
            <a:off x="1371600" y="1371600"/>
            <a:ext cx="9448495" cy="13716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357A15E2-C18C-FE5F-C33D-3F8E1D5A5685}"/>
              </a:ext>
            </a:extLst>
          </p:cNvPr>
          <p:cNvSpPr txBox="1"/>
          <p:nvPr/>
        </p:nvSpPr>
        <p:spPr>
          <a:xfrm>
            <a:off x="1828800" y="1737360"/>
            <a:ext cx="6157455" cy="933589"/>
          </a:xfrm>
          <a:prstGeom prst="rect">
            <a:avLst/>
          </a:prstGeom>
          <a:noFill/>
        </p:spPr>
        <p:txBody>
          <a:bodyPr wrap="none">
            <a:spAutoFit/>
          </a:bodyPr>
          <a:lstStyle/>
          <a:p>
            <a:pPr>
              <a:defRPr sz="3200" b="1">
                <a:solidFill>
                  <a:srgbClr val="232B38"/>
                </a:solidFill>
                <a:latin typeface="Georgia"/>
              </a:defRPr>
            </a:pPr>
            <a:r>
              <a:rPr dirty="0"/>
              <a:t>Thank You for Your Review!</a:t>
            </a:r>
          </a:p>
          <a:p>
            <a:pPr>
              <a:spcBef>
                <a:spcPts val="800"/>
              </a:spcBef>
              <a:defRPr sz="1600">
                <a:solidFill>
                  <a:srgbClr val="A31F34"/>
                </a:solidFill>
                <a:latin typeface="Arial"/>
              </a:defRPr>
            </a:pPr>
            <a:endParaRPr dirty="0"/>
          </a:p>
        </p:txBody>
      </p:sp>
      <p:sp>
        <p:nvSpPr>
          <p:cNvPr id="11" name="TextBox 10">
            <a:extLst>
              <a:ext uri="{FF2B5EF4-FFF2-40B4-BE49-F238E27FC236}">
                <a16:creationId xmlns:a16="http://schemas.microsoft.com/office/drawing/2014/main" id="{A6418561-6920-29C3-492D-79DD892AF50C}"/>
              </a:ext>
            </a:extLst>
          </p:cNvPr>
          <p:cNvSpPr txBox="1"/>
          <p:nvPr/>
        </p:nvSpPr>
        <p:spPr>
          <a:xfrm>
            <a:off x="1828800" y="2926080"/>
            <a:ext cx="8534095" cy="1046440"/>
          </a:xfrm>
          <a:prstGeom prst="rect">
            <a:avLst/>
          </a:prstGeom>
          <a:noFill/>
        </p:spPr>
        <p:txBody>
          <a:bodyPr wrap="square">
            <a:spAutoFit/>
          </a:bodyPr>
          <a:lstStyle/>
          <a:p>
            <a:pPr>
              <a:spcAft>
                <a:spcPts val="1200"/>
              </a:spcAft>
            </a:pPr>
            <a:r>
              <a:rPr lang="en-US" sz="1400" b="1" dirty="0">
                <a:solidFill>
                  <a:srgbClr val="232B38"/>
                </a:solidFill>
                <a:latin typeface="Arial"/>
              </a:rPr>
              <a:t>Git repo path</a:t>
            </a:r>
            <a:r>
              <a:rPr sz="1400" b="1" dirty="0">
                <a:solidFill>
                  <a:srgbClr val="232B38"/>
                </a:solidFill>
                <a:latin typeface="Arial"/>
              </a:rPr>
              <a:t>: </a:t>
            </a:r>
            <a:r>
              <a:rPr lang="en-US" b="1" dirty="0">
                <a:solidFill>
                  <a:srgbClr val="232B38"/>
                </a:solidFill>
                <a:hlinkClick r:id="rId2"/>
              </a:rPr>
              <a:t>https://github.com/merasupermarket/RAG-WITH-MIT-XPRO</a:t>
            </a:r>
            <a:r>
              <a:rPr lang="en-US" b="1" dirty="0">
                <a:solidFill>
                  <a:srgbClr val="232B38"/>
                </a:solidFill>
              </a:rPr>
              <a:t> </a:t>
            </a:r>
          </a:p>
          <a:p>
            <a:pPr>
              <a:spcAft>
                <a:spcPts val="1200"/>
              </a:spcAft>
            </a:pPr>
            <a:r>
              <a:rPr lang="en-US" b="1" dirty="0">
                <a:solidFill>
                  <a:srgbClr val="232B38"/>
                </a:solidFill>
              </a:rPr>
              <a:t>YouTube: </a:t>
            </a:r>
            <a:r>
              <a:rPr lang="en-US" b="1" dirty="0">
                <a:solidFill>
                  <a:srgbClr val="232B38"/>
                </a:solidFill>
                <a:hlinkClick r:id="rId3"/>
              </a:rPr>
              <a:t>https://youtu.be/6zxbiw4zetw</a:t>
            </a:r>
            <a:r>
              <a:rPr lang="en-US" b="1" dirty="0">
                <a:solidFill>
                  <a:srgbClr val="232B38"/>
                </a:solidFill>
              </a:rPr>
              <a:t> </a:t>
            </a:r>
          </a:p>
          <a:p>
            <a:pPr>
              <a:spcAft>
                <a:spcPts val="1200"/>
              </a:spcAft>
            </a:pPr>
            <a:endParaRPr sz="1400" dirty="0">
              <a:solidFill>
                <a:srgbClr val="2D3436"/>
              </a:solidFill>
              <a:latin typeface="Arial"/>
            </a:endParaRPr>
          </a:p>
        </p:txBody>
      </p:sp>
    </p:spTree>
    <p:extLst>
      <p:ext uri="{BB962C8B-B14F-4D97-AF65-F5344CB8AC3E}">
        <p14:creationId xmlns:p14="http://schemas.microsoft.com/office/powerpoint/2010/main" val="3937486198"/>
      </p:ext>
    </p:extLst>
  </p:cSld>
  <p:clrMapOvr>
    <a:masterClrMapping/>
  </p:clrMapOvr>
</p:sld>
</file>

<file path=ppt/theme/theme1.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4164</TotalTime>
  <Words>2417</Words>
  <Application>Microsoft Office PowerPoint</Application>
  <PresentationFormat>Widescreen</PresentationFormat>
  <Paragraphs>174</Paragraphs>
  <Slides>10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1_MIT 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 Shilpiya</dc:creator>
  <cp:lastModifiedBy>Gaurav Singh</cp:lastModifiedBy>
  <cp:revision>14</cp:revision>
  <dcterms:created xsi:type="dcterms:W3CDTF">2018-11-05T13:58:18Z</dcterms:created>
  <dcterms:modified xsi:type="dcterms:W3CDTF">2026-10-14T00:35:04Z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0x010100296DC331548237488BA9A87C5C22BBA4</vt:lpwstr>
  </property>
  <property fmtid="{D5CDD505-2E9C-101B-9397-08002B2CF9AE}" pid="3" name="ArticulateGUID">
    <vt:lpwstr>405BEB8A-A8B9-422E-86C1-391F774E521D</vt:lpwstr>
  </property>
  <property fmtid="{D5CDD505-2E9C-101B-9397-08002B2CF9AE}" pid="4" name="ArticulatePath">
    <vt:lpwstr>MIT_xPRO_PPT_Template</vt:lpwstr>
  </property>
</Properties>
</file>